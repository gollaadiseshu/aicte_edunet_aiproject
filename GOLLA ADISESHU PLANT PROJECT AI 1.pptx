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6" d="100"/>
          <a:sy n="46" d="100"/>
        </p:scale>
        <p:origin x="756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571500"/>
            <a:ext cx="17212310" cy="9436735"/>
          </a:xfrm>
          <a:custGeom>
            <a:avLst/>
            <a:gdLst/>
            <a:ahLst/>
            <a:cxnLst/>
            <a:rect l="l" t="t" r="r" b="b"/>
            <a:pathLst>
              <a:path w="17212310" h="9436735">
                <a:moveTo>
                  <a:pt x="17124934" y="0"/>
                </a:moveTo>
                <a:lnTo>
                  <a:pt x="87095" y="0"/>
                </a:lnTo>
                <a:lnTo>
                  <a:pt x="53193" y="6844"/>
                </a:lnTo>
                <a:lnTo>
                  <a:pt x="25509" y="25511"/>
                </a:lnTo>
                <a:lnTo>
                  <a:pt x="6844" y="53203"/>
                </a:lnTo>
                <a:lnTo>
                  <a:pt x="0" y="87122"/>
                </a:lnTo>
                <a:lnTo>
                  <a:pt x="0" y="9349498"/>
                </a:lnTo>
                <a:lnTo>
                  <a:pt x="6844" y="9383404"/>
                </a:lnTo>
                <a:lnTo>
                  <a:pt x="25509" y="9411093"/>
                </a:lnTo>
                <a:lnTo>
                  <a:pt x="53193" y="9429762"/>
                </a:lnTo>
                <a:lnTo>
                  <a:pt x="87095" y="9436608"/>
                </a:lnTo>
                <a:lnTo>
                  <a:pt x="17124934" y="9436608"/>
                </a:lnTo>
                <a:lnTo>
                  <a:pt x="17158852" y="9429762"/>
                </a:lnTo>
                <a:lnTo>
                  <a:pt x="17186544" y="9411093"/>
                </a:lnTo>
                <a:lnTo>
                  <a:pt x="17205211" y="9383404"/>
                </a:lnTo>
                <a:lnTo>
                  <a:pt x="17212056" y="9349498"/>
                </a:lnTo>
                <a:lnTo>
                  <a:pt x="17212056" y="87122"/>
                </a:lnTo>
                <a:lnTo>
                  <a:pt x="17197429" y="38812"/>
                </a:lnTo>
                <a:lnTo>
                  <a:pt x="17158303" y="6619"/>
                </a:lnTo>
                <a:lnTo>
                  <a:pt x="17124934" y="0"/>
                </a:lnTo>
                <a:close/>
              </a:path>
            </a:pathLst>
          </a:custGeom>
          <a:solidFill>
            <a:srgbClr val="FAFAFA">
              <a:alpha val="8980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602211" y="239268"/>
            <a:ext cx="6685915" cy="1219200"/>
          </a:xfrm>
          <a:custGeom>
            <a:avLst/>
            <a:gdLst/>
            <a:ahLst/>
            <a:cxnLst/>
            <a:rect l="l" t="t" r="r" b="b"/>
            <a:pathLst>
              <a:path w="6685915" h="1219200">
                <a:moveTo>
                  <a:pt x="6685788" y="0"/>
                </a:moveTo>
                <a:lnTo>
                  <a:pt x="209296" y="0"/>
                </a:lnTo>
                <a:lnTo>
                  <a:pt x="168282" y="4065"/>
                </a:lnTo>
                <a:lnTo>
                  <a:pt x="129222" y="15954"/>
                </a:lnTo>
                <a:lnTo>
                  <a:pt x="93210" y="35200"/>
                </a:lnTo>
                <a:lnTo>
                  <a:pt x="61341" y="61340"/>
                </a:lnTo>
                <a:lnTo>
                  <a:pt x="35200" y="93285"/>
                </a:lnTo>
                <a:lnTo>
                  <a:pt x="15954" y="129349"/>
                </a:lnTo>
                <a:lnTo>
                  <a:pt x="4065" y="168461"/>
                </a:lnTo>
                <a:lnTo>
                  <a:pt x="0" y="209550"/>
                </a:lnTo>
                <a:lnTo>
                  <a:pt x="0" y="1009650"/>
                </a:lnTo>
                <a:lnTo>
                  <a:pt x="4065" y="1050738"/>
                </a:lnTo>
                <a:lnTo>
                  <a:pt x="15954" y="1089850"/>
                </a:lnTo>
                <a:lnTo>
                  <a:pt x="35200" y="1125914"/>
                </a:lnTo>
                <a:lnTo>
                  <a:pt x="61341" y="1157858"/>
                </a:lnTo>
                <a:lnTo>
                  <a:pt x="93210" y="1183999"/>
                </a:lnTo>
                <a:lnTo>
                  <a:pt x="129222" y="1203245"/>
                </a:lnTo>
                <a:lnTo>
                  <a:pt x="168282" y="1215134"/>
                </a:lnTo>
                <a:lnTo>
                  <a:pt x="209296" y="1219200"/>
                </a:lnTo>
                <a:lnTo>
                  <a:pt x="6685788" y="1219200"/>
                </a:lnTo>
                <a:lnTo>
                  <a:pt x="6685788" y="0"/>
                </a:lnTo>
                <a:close/>
              </a:path>
            </a:pathLst>
          </a:custGeom>
          <a:solidFill>
            <a:srgbClr val="0D0E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6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122911" y="539953"/>
            <a:ext cx="5640705" cy="7880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6000" y="2741193"/>
            <a:ext cx="11553190" cy="3074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AMSONSESHUGOLLA@GMAIL.COM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096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19571" y="961136"/>
            <a:ext cx="5772785" cy="698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400" spc="-370" dirty="0">
                <a:solidFill>
                  <a:srgbClr val="000000"/>
                </a:solidFill>
                <a:latin typeface="Arial Black"/>
                <a:cs typeface="Arial Black"/>
              </a:rPr>
              <a:t>CAPSTONE</a:t>
            </a:r>
            <a:r>
              <a:rPr sz="4400" spc="-425" dirty="0">
                <a:solidFill>
                  <a:srgbClr val="000000"/>
                </a:solidFill>
                <a:latin typeface="Arial Black"/>
                <a:cs typeface="Arial Black"/>
              </a:rPr>
              <a:t> </a:t>
            </a:r>
            <a:r>
              <a:rPr sz="4400" spc="-430" dirty="0">
                <a:solidFill>
                  <a:srgbClr val="000000"/>
                </a:solidFill>
                <a:latin typeface="Arial Black"/>
                <a:cs typeface="Arial Black"/>
              </a:rPr>
              <a:t>PROJECT</a:t>
            </a:r>
            <a:endParaRPr sz="44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68400" y="2535427"/>
            <a:ext cx="15875000" cy="698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400" spc="-365" dirty="0">
                <a:latin typeface="Arial Black"/>
                <a:cs typeface="Arial Black"/>
              </a:rPr>
              <a:t>PLANT</a:t>
            </a:r>
            <a:r>
              <a:rPr sz="4400" spc="-420" dirty="0">
                <a:latin typeface="Arial Black"/>
                <a:cs typeface="Arial Black"/>
              </a:rPr>
              <a:t> </a:t>
            </a:r>
            <a:r>
              <a:rPr sz="4400" spc="-409" dirty="0">
                <a:latin typeface="Arial Black"/>
                <a:cs typeface="Arial Black"/>
              </a:rPr>
              <a:t>LEAF</a:t>
            </a:r>
            <a:r>
              <a:rPr sz="4400" spc="-420" dirty="0">
                <a:latin typeface="Arial Black"/>
                <a:cs typeface="Arial Black"/>
              </a:rPr>
              <a:t> </a:t>
            </a:r>
            <a:r>
              <a:rPr sz="4400" spc="-365" dirty="0">
                <a:latin typeface="Arial Black"/>
                <a:cs typeface="Arial Black"/>
              </a:rPr>
              <a:t>DISEASE</a:t>
            </a:r>
            <a:r>
              <a:rPr sz="4400" spc="-405" dirty="0">
                <a:latin typeface="Arial Black"/>
                <a:cs typeface="Arial Black"/>
              </a:rPr>
              <a:t> </a:t>
            </a:r>
            <a:r>
              <a:rPr sz="4400" spc="-350" dirty="0">
                <a:latin typeface="Arial Black"/>
                <a:cs typeface="Arial Black"/>
              </a:rPr>
              <a:t>DETECTION</a:t>
            </a:r>
            <a:r>
              <a:rPr sz="4400" spc="-415" dirty="0">
                <a:latin typeface="Arial Black"/>
                <a:cs typeface="Arial Black"/>
              </a:rPr>
              <a:t> </a:t>
            </a:r>
            <a:r>
              <a:rPr sz="4400" spc="-345" dirty="0">
                <a:latin typeface="Arial Black"/>
                <a:cs typeface="Arial Black"/>
              </a:rPr>
              <a:t>USING</a:t>
            </a:r>
            <a:r>
              <a:rPr sz="4400" spc="-420" dirty="0">
                <a:latin typeface="Arial Black"/>
                <a:cs typeface="Arial Black"/>
              </a:rPr>
              <a:t> </a:t>
            </a:r>
            <a:r>
              <a:rPr sz="4400" spc="-330" dirty="0">
                <a:latin typeface="Arial Black"/>
                <a:cs typeface="Arial Black"/>
              </a:rPr>
              <a:t>DEEP</a:t>
            </a:r>
            <a:r>
              <a:rPr sz="4400" spc="-420" dirty="0">
                <a:latin typeface="Arial Black"/>
                <a:cs typeface="Arial Black"/>
              </a:rPr>
              <a:t> </a:t>
            </a:r>
            <a:r>
              <a:rPr sz="4400" spc="-375" dirty="0">
                <a:latin typeface="Arial Black"/>
                <a:cs typeface="Arial Black"/>
              </a:rPr>
              <a:t>LEARNING</a:t>
            </a:r>
            <a:endParaRPr sz="44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0428" y="8891422"/>
            <a:ext cx="1445895" cy="356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150" spc="-10" dirty="0">
                <a:latin typeface="Lucida Sans Unicode"/>
                <a:cs typeface="Lucida Sans Unicode"/>
              </a:rPr>
              <a:t>MAY–2025</a:t>
            </a:r>
            <a:endParaRPr sz="215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2640" y="4078184"/>
            <a:ext cx="7196455" cy="3555365"/>
          </a:xfrm>
          <a:prstGeom prst="rect">
            <a:avLst/>
          </a:prstGeom>
        </p:spPr>
        <p:txBody>
          <a:bodyPr vert="horz" wrap="square" lIns="0" tIns="17399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370"/>
              </a:spcBef>
              <a:buFont typeface="Arial MT"/>
              <a:buChar char="•"/>
              <a:tabLst>
                <a:tab pos="240029" algn="l"/>
                <a:tab pos="2636520" algn="l"/>
              </a:tabLst>
            </a:pPr>
            <a:r>
              <a:rPr sz="2800" b="1" dirty="0">
                <a:latin typeface="Calibri"/>
                <a:cs typeface="Calibri"/>
              </a:rPr>
              <a:t>PRESENTED</a:t>
            </a:r>
            <a:r>
              <a:rPr sz="2800" b="1" spc="-100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BY:</a:t>
            </a:r>
            <a:r>
              <a:rPr sz="2800" b="1" dirty="0">
                <a:latin typeface="Calibri"/>
                <a:cs typeface="Calibri"/>
              </a:rPr>
              <a:t>	GOLLA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ADISESHU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270"/>
              </a:spcBef>
              <a:buFont typeface="Arial MT"/>
              <a:buChar char="•"/>
              <a:tabLst>
                <a:tab pos="240029" algn="l"/>
                <a:tab pos="2813050" algn="l"/>
              </a:tabLst>
            </a:pPr>
            <a:r>
              <a:rPr sz="2800" b="1" dirty="0">
                <a:latin typeface="Calibri"/>
                <a:cs typeface="Calibri"/>
              </a:rPr>
              <a:t>COLLEGE</a:t>
            </a:r>
            <a:r>
              <a:rPr sz="2800" b="1" spc="-13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NAME:</a:t>
            </a:r>
            <a:r>
              <a:rPr sz="2800" b="1" dirty="0">
                <a:latin typeface="Calibri"/>
                <a:cs typeface="Calibri"/>
              </a:rPr>
              <a:t>	BITS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PILANI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UNIVERSITY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275"/>
              </a:spcBef>
              <a:buFont typeface="Arial MT"/>
              <a:buChar char="•"/>
              <a:tabLst>
                <a:tab pos="240029" algn="l"/>
                <a:tab pos="2530475" algn="l"/>
              </a:tabLst>
            </a:pPr>
            <a:r>
              <a:rPr sz="2800" b="1" spc="-10" dirty="0">
                <a:latin typeface="Calibri"/>
                <a:cs typeface="Calibri"/>
              </a:rPr>
              <a:t>DEPARTMENT:</a:t>
            </a:r>
            <a:r>
              <a:rPr sz="2800" b="1" dirty="0">
                <a:latin typeface="Calibri"/>
                <a:cs typeface="Calibri"/>
              </a:rPr>
              <a:t>	DESIGN</a:t>
            </a:r>
            <a:r>
              <a:rPr sz="2800" b="1" spc="-3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&amp;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COMPUTING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27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dirty="0">
                <a:latin typeface="Calibri"/>
                <a:cs typeface="Calibri"/>
              </a:rPr>
              <a:t>EMAIL</a:t>
            </a:r>
            <a:r>
              <a:rPr sz="2800" b="1" spc="-3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ID: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  <a:hlinkClick r:id="rId3"/>
              </a:rPr>
              <a:t>SAMSONSESHUGOLLA@GMAIL.COM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2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dirty="0">
                <a:latin typeface="Calibri"/>
                <a:cs typeface="Calibri"/>
              </a:rPr>
              <a:t>AICTE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STUDENT</a:t>
            </a:r>
            <a:r>
              <a:rPr sz="2800" b="1" spc="-90" dirty="0">
                <a:latin typeface="Calibri"/>
                <a:cs typeface="Calibri"/>
              </a:rPr>
              <a:t> </a:t>
            </a:r>
            <a:r>
              <a:rPr sz="2800" b="1" spc="-30" dirty="0">
                <a:latin typeface="Calibri"/>
                <a:cs typeface="Calibri"/>
              </a:rPr>
              <a:t>REGISTRATION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ID: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2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dirty="0">
                <a:latin typeface="Calibri"/>
                <a:cs typeface="Calibri"/>
              </a:rPr>
              <a:t>STUDENT</a:t>
            </a:r>
            <a:r>
              <a:rPr sz="2800" b="1" spc="-9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ID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AINSI_95959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32976" y="3570732"/>
            <a:ext cx="7849362" cy="65493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028700" y="1383791"/>
            <a:ext cx="16230600" cy="8229600"/>
          </a:xfrm>
          <a:custGeom>
            <a:avLst/>
            <a:gdLst/>
            <a:ahLst/>
            <a:cxnLst/>
            <a:rect l="l" t="t" r="r" b="b"/>
            <a:pathLst>
              <a:path w="16230600" h="8229600">
                <a:moveTo>
                  <a:pt x="16138271" y="0"/>
                </a:moveTo>
                <a:lnTo>
                  <a:pt x="92367" y="0"/>
                </a:lnTo>
                <a:lnTo>
                  <a:pt x="56412" y="7264"/>
                </a:lnTo>
                <a:lnTo>
                  <a:pt x="27052" y="27066"/>
                </a:lnTo>
                <a:lnTo>
                  <a:pt x="7258" y="56417"/>
                </a:lnTo>
                <a:lnTo>
                  <a:pt x="0" y="92328"/>
                </a:lnTo>
                <a:lnTo>
                  <a:pt x="0" y="8137232"/>
                </a:lnTo>
                <a:lnTo>
                  <a:pt x="7258" y="8173187"/>
                </a:lnTo>
                <a:lnTo>
                  <a:pt x="27052" y="8202547"/>
                </a:lnTo>
                <a:lnTo>
                  <a:pt x="56412" y="8222341"/>
                </a:lnTo>
                <a:lnTo>
                  <a:pt x="92367" y="8229600"/>
                </a:lnTo>
                <a:lnTo>
                  <a:pt x="16138271" y="8229600"/>
                </a:lnTo>
                <a:lnTo>
                  <a:pt x="16174182" y="8222341"/>
                </a:lnTo>
                <a:lnTo>
                  <a:pt x="16203533" y="8202547"/>
                </a:lnTo>
                <a:lnTo>
                  <a:pt x="16223335" y="8173187"/>
                </a:lnTo>
                <a:lnTo>
                  <a:pt x="16230600" y="8137232"/>
                </a:lnTo>
                <a:lnTo>
                  <a:pt x="16230600" y="92328"/>
                </a:lnTo>
                <a:lnTo>
                  <a:pt x="16223335" y="56417"/>
                </a:lnTo>
                <a:lnTo>
                  <a:pt x="16203533" y="27066"/>
                </a:lnTo>
                <a:lnTo>
                  <a:pt x="16174182" y="7264"/>
                </a:lnTo>
                <a:lnTo>
                  <a:pt x="16138271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31963" y="1514347"/>
            <a:ext cx="18815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i="1" spc="65" dirty="0">
                <a:solidFill>
                  <a:srgbClr val="000000"/>
                </a:solidFill>
                <a:latin typeface="Arial"/>
                <a:cs typeface="Arial"/>
              </a:rPr>
              <a:t>Index</a:t>
            </a:r>
            <a:endParaRPr sz="5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93823" y="2482748"/>
            <a:ext cx="5688965" cy="485267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320040" indent="-307340">
              <a:lnSpc>
                <a:spcPct val="100000"/>
              </a:lnSpc>
              <a:spcBef>
                <a:spcPts val="545"/>
              </a:spcBef>
              <a:buFont typeface="Arial MT"/>
              <a:buChar char="•"/>
              <a:tabLst>
                <a:tab pos="320040" algn="l"/>
              </a:tabLst>
            </a:pPr>
            <a:r>
              <a:rPr sz="2800" spc="-10" dirty="0">
                <a:latin typeface="Times New Roman"/>
                <a:cs typeface="Times New Roman"/>
              </a:rPr>
              <a:t>Abstract</a:t>
            </a:r>
            <a:endParaRPr sz="2800">
              <a:latin typeface="Times New Roman"/>
              <a:cs typeface="Times New Roman"/>
            </a:endParaRPr>
          </a:p>
          <a:p>
            <a:pPr marL="320040" indent="-307340">
              <a:lnSpc>
                <a:spcPct val="100000"/>
              </a:lnSpc>
              <a:spcBef>
                <a:spcPts val="440"/>
              </a:spcBef>
              <a:buFont typeface="Arial MT"/>
              <a:buChar char="•"/>
              <a:tabLst>
                <a:tab pos="320040" algn="l"/>
              </a:tabLst>
            </a:pPr>
            <a:r>
              <a:rPr sz="2800" spc="-10" dirty="0">
                <a:latin typeface="Times New Roman"/>
                <a:cs typeface="Times New Roman"/>
              </a:rPr>
              <a:t>Introduction</a:t>
            </a:r>
            <a:endParaRPr sz="2800">
              <a:latin typeface="Times New Roman"/>
              <a:cs typeface="Times New Roman"/>
            </a:endParaRPr>
          </a:p>
          <a:p>
            <a:pPr marL="320040" indent="-307340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320040" algn="l"/>
              </a:tabLst>
            </a:pPr>
            <a:r>
              <a:rPr sz="2800" dirty="0">
                <a:latin typeface="Times New Roman"/>
                <a:cs typeface="Times New Roman"/>
              </a:rPr>
              <a:t>Problem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statement</a:t>
            </a:r>
            <a:endParaRPr sz="2800">
              <a:latin typeface="Times New Roman"/>
              <a:cs typeface="Times New Roman"/>
            </a:endParaRPr>
          </a:p>
          <a:p>
            <a:pPr marL="320040" indent="-307340">
              <a:lnSpc>
                <a:spcPct val="100000"/>
              </a:lnSpc>
              <a:spcBef>
                <a:spcPts val="445"/>
              </a:spcBef>
              <a:buFont typeface="Arial MT"/>
              <a:buChar char="•"/>
              <a:tabLst>
                <a:tab pos="320040" algn="l"/>
              </a:tabLst>
            </a:pPr>
            <a:r>
              <a:rPr sz="2800" dirty="0">
                <a:latin typeface="Times New Roman"/>
                <a:cs typeface="Times New Roman"/>
              </a:rPr>
              <a:t>Existing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System</a:t>
            </a:r>
            <a:endParaRPr sz="2800">
              <a:latin typeface="Times New Roman"/>
              <a:cs typeface="Times New Roman"/>
            </a:endParaRPr>
          </a:p>
          <a:p>
            <a:pPr marL="320040" indent="-307340">
              <a:lnSpc>
                <a:spcPct val="100000"/>
              </a:lnSpc>
              <a:spcBef>
                <a:spcPts val="440"/>
              </a:spcBef>
              <a:buFont typeface="Arial MT"/>
              <a:buChar char="•"/>
              <a:tabLst>
                <a:tab pos="320040" algn="l"/>
              </a:tabLst>
            </a:pPr>
            <a:r>
              <a:rPr sz="2800" dirty="0">
                <a:latin typeface="Times New Roman"/>
                <a:cs typeface="Times New Roman"/>
              </a:rPr>
              <a:t>Proposed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System</a:t>
            </a:r>
            <a:endParaRPr sz="2800">
              <a:latin typeface="Times New Roman"/>
              <a:cs typeface="Times New Roman"/>
            </a:endParaRPr>
          </a:p>
          <a:p>
            <a:pPr marL="320040" indent="-307340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320040" algn="l"/>
              </a:tabLst>
            </a:pPr>
            <a:r>
              <a:rPr sz="2800" spc="-10" dirty="0">
                <a:latin typeface="Times New Roman"/>
                <a:cs typeface="Times New Roman"/>
              </a:rPr>
              <a:t>Methodology</a:t>
            </a:r>
            <a:endParaRPr sz="2800">
              <a:latin typeface="Times New Roman"/>
              <a:cs typeface="Times New Roman"/>
            </a:endParaRPr>
          </a:p>
          <a:p>
            <a:pPr marL="320040" indent="-307340">
              <a:lnSpc>
                <a:spcPct val="100000"/>
              </a:lnSpc>
              <a:spcBef>
                <a:spcPts val="445"/>
              </a:spcBef>
              <a:buFont typeface="Arial MT"/>
              <a:buChar char="•"/>
              <a:tabLst>
                <a:tab pos="320040" algn="l"/>
              </a:tabLst>
            </a:pPr>
            <a:r>
              <a:rPr sz="2800" spc="-10" dirty="0">
                <a:latin typeface="Times New Roman"/>
                <a:cs typeface="Times New Roman"/>
              </a:rPr>
              <a:t>Modules</a:t>
            </a:r>
            <a:endParaRPr sz="2800">
              <a:latin typeface="Times New Roman"/>
              <a:cs typeface="Times New Roman"/>
            </a:endParaRPr>
          </a:p>
          <a:p>
            <a:pPr marL="320040" indent="-307340">
              <a:lnSpc>
                <a:spcPct val="100000"/>
              </a:lnSpc>
              <a:spcBef>
                <a:spcPts val="445"/>
              </a:spcBef>
              <a:buFont typeface="Arial MT"/>
              <a:buChar char="•"/>
              <a:tabLst>
                <a:tab pos="320040" algn="l"/>
              </a:tabLst>
            </a:pPr>
            <a:r>
              <a:rPr sz="2800" dirty="0">
                <a:latin typeface="Times New Roman"/>
                <a:cs typeface="Times New Roman"/>
              </a:rPr>
              <a:t>Software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hardware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Requirements</a:t>
            </a:r>
            <a:endParaRPr sz="2800">
              <a:latin typeface="Times New Roman"/>
              <a:cs typeface="Times New Roman"/>
            </a:endParaRPr>
          </a:p>
          <a:p>
            <a:pPr marL="320040" indent="-307340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320040" algn="l"/>
              </a:tabLst>
            </a:pPr>
            <a:r>
              <a:rPr sz="2800" spc="-10" dirty="0">
                <a:latin typeface="Times New Roman"/>
                <a:cs typeface="Times New Roman"/>
              </a:rPr>
              <a:t>Conclusion</a:t>
            </a:r>
            <a:endParaRPr sz="2800">
              <a:latin typeface="Times New Roman"/>
              <a:cs typeface="Times New Roman"/>
            </a:endParaRPr>
          </a:p>
          <a:p>
            <a:pPr marL="320040" indent="-307340">
              <a:lnSpc>
                <a:spcPct val="100000"/>
              </a:lnSpc>
              <a:spcBef>
                <a:spcPts val="445"/>
              </a:spcBef>
              <a:buFont typeface="Arial MT"/>
              <a:buChar char="•"/>
              <a:tabLst>
                <a:tab pos="320040" algn="l"/>
              </a:tabLst>
            </a:pPr>
            <a:r>
              <a:rPr sz="2800" dirty="0">
                <a:latin typeface="Times New Roman"/>
                <a:cs typeface="Times New Roman"/>
              </a:rPr>
              <a:t>Future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Scope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3"/>
            <a:ext cx="18288000" cy="10273665"/>
            <a:chOff x="0" y="-3"/>
            <a:chExt cx="18288000" cy="102736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3"/>
              <a:ext cx="18287999" cy="1027328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152143" y="585215"/>
              <a:ext cx="16230600" cy="8229600"/>
            </a:xfrm>
            <a:custGeom>
              <a:avLst/>
              <a:gdLst/>
              <a:ahLst/>
              <a:cxnLst/>
              <a:rect l="l" t="t" r="r" b="b"/>
              <a:pathLst>
                <a:path w="16230600" h="8229600">
                  <a:moveTo>
                    <a:pt x="16138271" y="0"/>
                  </a:moveTo>
                  <a:lnTo>
                    <a:pt x="92367" y="0"/>
                  </a:lnTo>
                  <a:lnTo>
                    <a:pt x="56412" y="7264"/>
                  </a:lnTo>
                  <a:lnTo>
                    <a:pt x="27052" y="27066"/>
                  </a:lnTo>
                  <a:lnTo>
                    <a:pt x="7258" y="56417"/>
                  </a:lnTo>
                  <a:lnTo>
                    <a:pt x="0" y="92328"/>
                  </a:lnTo>
                  <a:lnTo>
                    <a:pt x="0" y="8137271"/>
                  </a:lnTo>
                  <a:lnTo>
                    <a:pt x="7258" y="8173182"/>
                  </a:lnTo>
                  <a:lnTo>
                    <a:pt x="27052" y="8202533"/>
                  </a:lnTo>
                  <a:lnTo>
                    <a:pt x="56412" y="8222335"/>
                  </a:lnTo>
                  <a:lnTo>
                    <a:pt x="92367" y="8229600"/>
                  </a:lnTo>
                  <a:lnTo>
                    <a:pt x="16138271" y="8229600"/>
                  </a:lnTo>
                  <a:lnTo>
                    <a:pt x="16174182" y="8222335"/>
                  </a:lnTo>
                  <a:lnTo>
                    <a:pt x="16203533" y="8202533"/>
                  </a:lnTo>
                  <a:lnTo>
                    <a:pt x="16223335" y="8173182"/>
                  </a:lnTo>
                  <a:lnTo>
                    <a:pt x="16230600" y="8137271"/>
                  </a:lnTo>
                  <a:lnTo>
                    <a:pt x="16230600" y="92328"/>
                  </a:lnTo>
                  <a:lnTo>
                    <a:pt x="16223335" y="56417"/>
                  </a:lnTo>
                  <a:lnTo>
                    <a:pt x="16203533" y="27066"/>
                  </a:lnTo>
                  <a:lnTo>
                    <a:pt x="16174182" y="7264"/>
                  </a:lnTo>
                  <a:lnTo>
                    <a:pt x="16138271" y="0"/>
                  </a:lnTo>
                  <a:close/>
                </a:path>
              </a:pathLst>
            </a:custGeom>
            <a:solidFill>
              <a:srgbClr val="FAFAFA">
                <a:alpha val="8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602212" y="419100"/>
              <a:ext cx="6685915" cy="1219200"/>
            </a:xfrm>
            <a:custGeom>
              <a:avLst/>
              <a:gdLst/>
              <a:ahLst/>
              <a:cxnLst/>
              <a:rect l="l" t="t" r="r" b="b"/>
              <a:pathLst>
                <a:path w="6685915" h="1219200">
                  <a:moveTo>
                    <a:pt x="6685788" y="0"/>
                  </a:moveTo>
                  <a:lnTo>
                    <a:pt x="209296" y="0"/>
                  </a:lnTo>
                  <a:lnTo>
                    <a:pt x="168282" y="4065"/>
                  </a:lnTo>
                  <a:lnTo>
                    <a:pt x="129222" y="15954"/>
                  </a:lnTo>
                  <a:lnTo>
                    <a:pt x="93210" y="35200"/>
                  </a:lnTo>
                  <a:lnTo>
                    <a:pt x="61341" y="61341"/>
                  </a:lnTo>
                  <a:lnTo>
                    <a:pt x="35200" y="93285"/>
                  </a:lnTo>
                  <a:lnTo>
                    <a:pt x="15954" y="129349"/>
                  </a:lnTo>
                  <a:lnTo>
                    <a:pt x="4065" y="168461"/>
                  </a:lnTo>
                  <a:lnTo>
                    <a:pt x="0" y="209550"/>
                  </a:lnTo>
                  <a:lnTo>
                    <a:pt x="0" y="1009650"/>
                  </a:lnTo>
                  <a:lnTo>
                    <a:pt x="4065" y="1050738"/>
                  </a:lnTo>
                  <a:lnTo>
                    <a:pt x="15954" y="1089850"/>
                  </a:lnTo>
                  <a:lnTo>
                    <a:pt x="35200" y="1125914"/>
                  </a:lnTo>
                  <a:lnTo>
                    <a:pt x="61341" y="1157858"/>
                  </a:lnTo>
                  <a:lnTo>
                    <a:pt x="93210" y="1183999"/>
                  </a:lnTo>
                  <a:lnTo>
                    <a:pt x="129222" y="1203245"/>
                  </a:lnTo>
                  <a:lnTo>
                    <a:pt x="168282" y="1215134"/>
                  </a:lnTo>
                  <a:lnTo>
                    <a:pt x="209296" y="1219200"/>
                  </a:lnTo>
                  <a:lnTo>
                    <a:pt x="6685788" y="1219200"/>
                  </a:lnTo>
                  <a:lnTo>
                    <a:pt x="6685788" y="0"/>
                  </a:lnTo>
                  <a:close/>
                </a:path>
              </a:pathLst>
            </a:custGeom>
            <a:solidFill>
              <a:srgbClr val="0D0E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899" rIns="0" bIns="0" rtlCol="0">
            <a:spAutoFit/>
          </a:bodyPr>
          <a:lstStyle/>
          <a:p>
            <a:pPr marL="1558925">
              <a:lnSpc>
                <a:spcPct val="100000"/>
              </a:lnSpc>
              <a:spcBef>
                <a:spcPts val="100"/>
              </a:spcBef>
            </a:pPr>
            <a:r>
              <a:rPr spc="45" dirty="0"/>
              <a:t>ABSTRACT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63954" y="1786533"/>
            <a:ext cx="15108555" cy="6000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7995" marR="5080" indent="-455295" algn="just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469900" algn="l"/>
              </a:tabLst>
            </a:pPr>
            <a:r>
              <a:rPr sz="2800" dirty="0">
                <a:latin typeface="Times New Roman"/>
                <a:cs typeface="Times New Roman"/>
              </a:rPr>
              <a:t>One</a:t>
            </a:r>
            <a:r>
              <a:rPr sz="2800" spc="409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4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4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important</a:t>
            </a:r>
            <a:r>
              <a:rPr sz="2800" spc="4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4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tedious</a:t>
            </a:r>
            <a:r>
              <a:rPr sz="2800" spc="4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task</a:t>
            </a:r>
            <a:r>
              <a:rPr sz="2800" spc="4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4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agricultural</a:t>
            </a:r>
            <a:r>
              <a:rPr sz="2800" spc="4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practices</a:t>
            </a:r>
            <a:r>
              <a:rPr sz="2800" spc="4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4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detection</a:t>
            </a:r>
            <a:r>
              <a:rPr sz="2800" spc="4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4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disease</a:t>
            </a:r>
            <a:r>
              <a:rPr sz="2800" spc="4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4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crops.</a:t>
            </a:r>
            <a:r>
              <a:rPr sz="2800" spc="409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It 	</a:t>
            </a:r>
            <a:r>
              <a:rPr sz="2800" dirty="0">
                <a:latin typeface="Times New Roman"/>
                <a:cs typeface="Times New Roman"/>
              </a:rPr>
              <a:t>requires</a:t>
            </a:r>
            <a:r>
              <a:rPr sz="2800" spc="2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huge</a:t>
            </a:r>
            <a:r>
              <a:rPr sz="2800" spc="2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time</a:t>
            </a:r>
            <a:r>
              <a:rPr sz="2800" spc="2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2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well</a:t>
            </a:r>
            <a:r>
              <a:rPr sz="2800" spc="2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2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skilled</a:t>
            </a:r>
            <a:r>
              <a:rPr sz="2800" spc="2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labor.</a:t>
            </a:r>
            <a:r>
              <a:rPr sz="2800" spc="2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This</a:t>
            </a:r>
            <a:r>
              <a:rPr sz="2800" spc="2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paper</a:t>
            </a:r>
            <a:r>
              <a:rPr sz="2800" spc="2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proposes</a:t>
            </a:r>
            <a:r>
              <a:rPr sz="2800" spc="2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2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smart</a:t>
            </a:r>
            <a:r>
              <a:rPr sz="2800" spc="2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2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efficient</a:t>
            </a:r>
            <a:r>
              <a:rPr sz="2800" spc="2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technique</a:t>
            </a:r>
            <a:r>
              <a:rPr sz="2800" spc="28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for 	</a:t>
            </a:r>
            <a:r>
              <a:rPr sz="2800" dirty="0">
                <a:latin typeface="Times New Roman"/>
                <a:cs typeface="Times New Roman"/>
              </a:rPr>
              <a:t>detection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crop</a:t>
            </a:r>
            <a:r>
              <a:rPr sz="2800" spc="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disease</a:t>
            </a:r>
            <a:r>
              <a:rPr sz="2800" spc="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which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uses</a:t>
            </a:r>
            <a:r>
              <a:rPr sz="2800" spc="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computer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vision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machine</a:t>
            </a:r>
            <a:r>
              <a:rPr sz="2800" spc="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learning</a:t>
            </a:r>
            <a:r>
              <a:rPr sz="2800" spc="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techniques.</a:t>
            </a:r>
            <a:r>
              <a:rPr sz="2800" spc="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proposed 	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able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detect</a:t>
            </a:r>
            <a:r>
              <a:rPr sz="2800" spc="6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different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diseases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6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plants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95%</a:t>
            </a:r>
            <a:r>
              <a:rPr sz="2800" spc="-10" dirty="0">
                <a:latin typeface="Times New Roman"/>
                <a:cs typeface="Times New Roman"/>
              </a:rPr>
              <a:t> accuracy.</a:t>
            </a:r>
            <a:endParaRPr sz="2800">
              <a:latin typeface="Times New Roman"/>
              <a:cs typeface="Times New Roman"/>
            </a:endParaRPr>
          </a:p>
          <a:p>
            <a:pPr marL="467995" marR="6985" indent="-455295" algn="just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469900" algn="l"/>
              </a:tabLst>
            </a:pPr>
            <a:r>
              <a:rPr sz="2800" dirty="0">
                <a:latin typeface="Times New Roman"/>
                <a:cs typeface="Times New Roman"/>
              </a:rPr>
              <a:t>Our</a:t>
            </a:r>
            <a:r>
              <a:rPr sz="2800" spc="6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project</a:t>
            </a:r>
            <a:r>
              <a:rPr sz="2800" spc="6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proposes</a:t>
            </a:r>
            <a:r>
              <a:rPr sz="2800" spc="6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6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deep</a:t>
            </a:r>
            <a:r>
              <a:rPr sz="2800" spc="6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learning-</a:t>
            </a:r>
            <a:r>
              <a:rPr sz="2800" dirty="0">
                <a:latin typeface="Times New Roman"/>
                <a:cs typeface="Times New Roman"/>
              </a:rPr>
              <a:t>based</a:t>
            </a:r>
            <a:r>
              <a:rPr sz="2800" spc="6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solution,</a:t>
            </a:r>
            <a:r>
              <a:rPr sz="2800" spc="6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leveraging</a:t>
            </a:r>
            <a:r>
              <a:rPr sz="2800" spc="6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Convolutional</a:t>
            </a:r>
            <a:r>
              <a:rPr sz="2800" spc="6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Neural</a:t>
            </a:r>
            <a:r>
              <a:rPr sz="2800" spc="6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Networks 	</a:t>
            </a:r>
            <a:r>
              <a:rPr sz="2800" dirty="0">
                <a:latin typeface="Times New Roman"/>
                <a:cs typeface="Times New Roman"/>
              </a:rPr>
              <a:t>(CNNs),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automatically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detect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classify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plant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leaf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diseases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from</a:t>
            </a:r>
            <a:r>
              <a:rPr sz="2800" spc="-10" dirty="0">
                <a:latin typeface="Times New Roman"/>
                <a:cs typeface="Times New Roman"/>
              </a:rPr>
              <a:t> images.</a:t>
            </a:r>
            <a:endParaRPr sz="2800">
              <a:latin typeface="Times New Roman"/>
              <a:cs typeface="Times New Roman"/>
            </a:endParaRPr>
          </a:p>
          <a:p>
            <a:pPr marL="467995" indent="-455295" algn="just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467995" algn="l"/>
              </a:tabLst>
            </a:pPr>
            <a:r>
              <a:rPr sz="2800" dirty="0">
                <a:latin typeface="Times New Roman"/>
                <a:cs typeface="Times New Roman"/>
              </a:rPr>
              <a:t>CNNs</a:t>
            </a:r>
            <a:r>
              <a:rPr sz="2800" spc="4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4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capable</a:t>
            </a:r>
            <a:r>
              <a:rPr sz="2800" spc="3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4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learning</a:t>
            </a:r>
            <a:r>
              <a:rPr sz="2800" spc="3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complex</a:t>
            </a:r>
            <a:r>
              <a:rPr sz="2800" spc="409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patterns</a:t>
            </a:r>
            <a:r>
              <a:rPr sz="2800" spc="3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from</a:t>
            </a:r>
            <a:r>
              <a:rPr sz="2800" spc="3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image</a:t>
            </a:r>
            <a:r>
              <a:rPr sz="2800" spc="4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data,</a:t>
            </a:r>
            <a:r>
              <a:rPr sz="2800" spc="3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eliminating</a:t>
            </a:r>
            <a:r>
              <a:rPr sz="2800" spc="4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4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need</a:t>
            </a:r>
            <a:r>
              <a:rPr sz="2800" spc="3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39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manual</a:t>
            </a:r>
            <a:endParaRPr sz="2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680"/>
              </a:spcBef>
            </a:pPr>
            <a:r>
              <a:rPr sz="2800" dirty="0">
                <a:latin typeface="Times New Roman"/>
                <a:cs typeface="Times New Roman"/>
              </a:rPr>
              <a:t>feature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extraction.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2800">
              <a:latin typeface="Times New Roman"/>
              <a:cs typeface="Times New Roman"/>
            </a:endParaRPr>
          </a:p>
          <a:p>
            <a:pPr marL="467995" indent="-455295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7995" algn="l"/>
              </a:tabLst>
            </a:pPr>
            <a:r>
              <a:rPr sz="2800" dirty="0">
                <a:latin typeface="Times New Roman"/>
                <a:cs typeface="Times New Roman"/>
              </a:rPr>
              <a:t>Key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Words: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Digital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image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processing,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CNN,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Machine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learning,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Plant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disease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detection.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28700" y="419100"/>
            <a:ext cx="17259300" cy="8839200"/>
            <a:chOff x="1028700" y="419100"/>
            <a:chExt cx="17259300" cy="8839200"/>
          </a:xfrm>
        </p:grpSpPr>
        <p:sp>
          <p:nvSpPr>
            <p:cNvPr id="3" name="object 3"/>
            <p:cNvSpPr/>
            <p:nvPr/>
          </p:nvSpPr>
          <p:spPr>
            <a:xfrm>
              <a:off x="1028700" y="1028700"/>
              <a:ext cx="16230600" cy="8229600"/>
            </a:xfrm>
            <a:custGeom>
              <a:avLst/>
              <a:gdLst/>
              <a:ahLst/>
              <a:cxnLst/>
              <a:rect l="l" t="t" r="r" b="b"/>
              <a:pathLst>
                <a:path w="16230600" h="8229600">
                  <a:moveTo>
                    <a:pt x="16138271" y="0"/>
                  </a:moveTo>
                  <a:lnTo>
                    <a:pt x="92367" y="0"/>
                  </a:lnTo>
                  <a:lnTo>
                    <a:pt x="56412" y="7264"/>
                  </a:lnTo>
                  <a:lnTo>
                    <a:pt x="27052" y="27066"/>
                  </a:lnTo>
                  <a:lnTo>
                    <a:pt x="7258" y="56417"/>
                  </a:lnTo>
                  <a:lnTo>
                    <a:pt x="0" y="92328"/>
                  </a:lnTo>
                  <a:lnTo>
                    <a:pt x="0" y="8137232"/>
                  </a:lnTo>
                  <a:lnTo>
                    <a:pt x="7258" y="8173187"/>
                  </a:lnTo>
                  <a:lnTo>
                    <a:pt x="27052" y="8202547"/>
                  </a:lnTo>
                  <a:lnTo>
                    <a:pt x="56412" y="8222341"/>
                  </a:lnTo>
                  <a:lnTo>
                    <a:pt x="92367" y="8229600"/>
                  </a:lnTo>
                  <a:lnTo>
                    <a:pt x="16138271" y="8229600"/>
                  </a:lnTo>
                  <a:lnTo>
                    <a:pt x="16174182" y="8222341"/>
                  </a:lnTo>
                  <a:lnTo>
                    <a:pt x="16203533" y="8202547"/>
                  </a:lnTo>
                  <a:lnTo>
                    <a:pt x="16223335" y="8173187"/>
                  </a:lnTo>
                  <a:lnTo>
                    <a:pt x="16230600" y="8137232"/>
                  </a:lnTo>
                  <a:lnTo>
                    <a:pt x="16230600" y="92328"/>
                  </a:lnTo>
                  <a:lnTo>
                    <a:pt x="16223335" y="56417"/>
                  </a:lnTo>
                  <a:lnTo>
                    <a:pt x="16203533" y="27066"/>
                  </a:lnTo>
                  <a:lnTo>
                    <a:pt x="16174182" y="7264"/>
                  </a:lnTo>
                  <a:lnTo>
                    <a:pt x="16138271" y="0"/>
                  </a:lnTo>
                  <a:close/>
                </a:path>
              </a:pathLst>
            </a:custGeom>
            <a:solidFill>
              <a:srgbClr val="FAFAFA">
                <a:alpha val="8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602211" y="419100"/>
              <a:ext cx="6685915" cy="1219200"/>
            </a:xfrm>
            <a:custGeom>
              <a:avLst/>
              <a:gdLst/>
              <a:ahLst/>
              <a:cxnLst/>
              <a:rect l="l" t="t" r="r" b="b"/>
              <a:pathLst>
                <a:path w="6685915" h="1219200">
                  <a:moveTo>
                    <a:pt x="6685788" y="0"/>
                  </a:moveTo>
                  <a:lnTo>
                    <a:pt x="209296" y="0"/>
                  </a:lnTo>
                  <a:lnTo>
                    <a:pt x="168282" y="4065"/>
                  </a:lnTo>
                  <a:lnTo>
                    <a:pt x="129222" y="15954"/>
                  </a:lnTo>
                  <a:lnTo>
                    <a:pt x="93210" y="35200"/>
                  </a:lnTo>
                  <a:lnTo>
                    <a:pt x="61341" y="61341"/>
                  </a:lnTo>
                  <a:lnTo>
                    <a:pt x="35200" y="93285"/>
                  </a:lnTo>
                  <a:lnTo>
                    <a:pt x="15954" y="129349"/>
                  </a:lnTo>
                  <a:lnTo>
                    <a:pt x="4065" y="168461"/>
                  </a:lnTo>
                  <a:lnTo>
                    <a:pt x="0" y="209550"/>
                  </a:lnTo>
                  <a:lnTo>
                    <a:pt x="0" y="1009650"/>
                  </a:lnTo>
                  <a:lnTo>
                    <a:pt x="4065" y="1050738"/>
                  </a:lnTo>
                  <a:lnTo>
                    <a:pt x="15954" y="1089850"/>
                  </a:lnTo>
                  <a:lnTo>
                    <a:pt x="35200" y="1125914"/>
                  </a:lnTo>
                  <a:lnTo>
                    <a:pt x="61341" y="1157858"/>
                  </a:lnTo>
                  <a:lnTo>
                    <a:pt x="93210" y="1183999"/>
                  </a:lnTo>
                  <a:lnTo>
                    <a:pt x="129222" y="1203245"/>
                  </a:lnTo>
                  <a:lnTo>
                    <a:pt x="168282" y="1215134"/>
                  </a:lnTo>
                  <a:lnTo>
                    <a:pt x="209296" y="1219200"/>
                  </a:lnTo>
                  <a:lnTo>
                    <a:pt x="6685788" y="1219200"/>
                  </a:lnTo>
                  <a:lnTo>
                    <a:pt x="6685788" y="0"/>
                  </a:lnTo>
                  <a:close/>
                </a:path>
              </a:pathLst>
            </a:custGeom>
            <a:solidFill>
              <a:srgbClr val="0D0E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899" rIns="0" bIns="0" rtlCol="0">
            <a:spAutoFit/>
          </a:bodyPr>
          <a:lstStyle/>
          <a:p>
            <a:pPr marL="120904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Introduction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259838" y="1887677"/>
            <a:ext cx="13700760" cy="6427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469900" algn="l"/>
                <a:tab pos="555625" algn="l"/>
              </a:tabLst>
            </a:pPr>
            <a:r>
              <a:rPr sz="2800" dirty="0">
                <a:latin typeface="Times New Roman"/>
                <a:cs typeface="Times New Roman"/>
              </a:rPr>
              <a:t>	Plant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diseases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reduce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crop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yields,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affecting food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security.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Traditional manual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inspection </a:t>
            </a:r>
            <a:r>
              <a:rPr sz="2800" dirty="0">
                <a:latin typeface="Times New Roman"/>
                <a:cs typeface="Times New Roman"/>
              </a:rPr>
              <a:t>is  slow,</a:t>
            </a:r>
            <a:r>
              <a:rPr sz="2800" spc="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inconsistent,</a:t>
            </a:r>
            <a:r>
              <a:rPr sz="2800" spc="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requires</a:t>
            </a:r>
            <a:r>
              <a:rPr sz="2800" spc="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expert</a:t>
            </a:r>
            <a:r>
              <a:rPr sz="2800" spc="1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knowledge.</a:t>
            </a:r>
            <a:r>
              <a:rPr sz="2800" spc="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Deep</a:t>
            </a:r>
            <a:r>
              <a:rPr sz="2800" spc="1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learning,  especially  </a:t>
            </a:r>
            <a:r>
              <a:rPr sz="2800" spc="-20" dirty="0">
                <a:latin typeface="Times New Roman"/>
                <a:cs typeface="Times New Roman"/>
              </a:rPr>
              <a:t>CNNs, </a:t>
            </a:r>
            <a:r>
              <a:rPr sz="2800" dirty="0">
                <a:latin typeface="Times New Roman"/>
                <a:cs typeface="Times New Roman"/>
              </a:rPr>
              <a:t>provides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scalable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automated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solutions.</a:t>
            </a:r>
            <a:endParaRPr sz="2800">
              <a:latin typeface="Times New Roman"/>
              <a:cs typeface="Times New Roman"/>
            </a:endParaRPr>
          </a:p>
          <a:p>
            <a:pPr marL="467995" indent="-455295" algn="just">
              <a:lnSpc>
                <a:spcPct val="100000"/>
              </a:lnSpc>
              <a:spcBef>
                <a:spcPts val="1085"/>
              </a:spcBef>
              <a:buFont typeface="Arial MT"/>
              <a:buChar char="•"/>
              <a:tabLst>
                <a:tab pos="467995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6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main</a:t>
            </a:r>
            <a:r>
              <a:rPr sz="2800" spc="6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objectives</a:t>
            </a:r>
            <a:r>
              <a:rPr sz="2800" spc="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6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6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project</a:t>
            </a:r>
            <a:r>
              <a:rPr sz="2800" spc="6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included</a:t>
            </a:r>
            <a:r>
              <a:rPr sz="2800" spc="6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collecting</a:t>
            </a:r>
            <a:r>
              <a:rPr sz="2800" spc="6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6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dataset</a:t>
            </a:r>
            <a:r>
              <a:rPr sz="2800" spc="6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67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plant</a:t>
            </a:r>
            <a:r>
              <a:rPr sz="2800" spc="6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leaf</a:t>
            </a:r>
            <a:r>
              <a:rPr sz="2800" spc="6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images</a:t>
            </a:r>
            <a:endParaRPr sz="2800">
              <a:latin typeface="Times New Roman"/>
              <a:cs typeface="Times New Roman"/>
            </a:endParaRPr>
          </a:p>
          <a:p>
            <a:pPr marL="469900" marR="5080" algn="just">
              <a:lnSpc>
                <a:spcPct val="150000"/>
              </a:lnSpc>
            </a:pPr>
            <a:r>
              <a:rPr sz="2800" dirty="0">
                <a:latin typeface="Times New Roman"/>
                <a:cs typeface="Times New Roman"/>
              </a:rPr>
              <a:t>representing</a:t>
            </a:r>
            <a:r>
              <a:rPr sz="2800" spc="52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various</a:t>
            </a:r>
            <a:r>
              <a:rPr sz="2800" spc="52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disease</a:t>
            </a:r>
            <a:r>
              <a:rPr sz="2800" spc="52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categories,</a:t>
            </a:r>
            <a:r>
              <a:rPr sz="2800" spc="52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applying</a:t>
            </a:r>
            <a:r>
              <a:rPr sz="2800" spc="53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preprocessing</a:t>
            </a:r>
            <a:r>
              <a:rPr sz="2800" spc="52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520" dirty="0">
                <a:latin typeface="Times New Roman"/>
                <a:cs typeface="Times New Roman"/>
              </a:rPr>
              <a:t>  </a:t>
            </a:r>
            <a:r>
              <a:rPr sz="2800" spc="-10" dirty="0">
                <a:latin typeface="Times New Roman"/>
                <a:cs typeface="Times New Roman"/>
              </a:rPr>
              <a:t>augmentation </a:t>
            </a:r>
            <a:r>
              <a:rPr sz="2800" dirty="0">
                <a:latin typeface="Times New Roman"/>
                <a:cs typeface="Times New Roman"/>
              </a:rPr>
              <a:t>techniques</a:t>
            </a:r>
            <a:r>
              <a:rPr sz="2800" spc="3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3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improve</a:t>
            </a:r>
            <a:r>
              <a:rPr sz="2800" spc="3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3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quality,</a:t>
            </a:r>
            <a:r>
              <a:rPr sz="2800" spc="3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3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training</a:t>
            </a:r>
            <a:r>
              <a:rPr sz="2800" spc="3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multiple</a:t>
            </a:r>
            <a:r>
              <a:rPr sz="2800" spc="3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deep</a:t>
            </a:r>
            <a:r>
              <a:rPr sz="2800" spc="3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learning</a:t>
            </a:r>
            <a:r>
              <a:rPr sz="2800" spc="3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models,</a:t>
            </a:r>
            <a:r>
              <a:rPr sz="2800" spc="3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primarily </a:t>
            </a:r>
            <a:r>
              <a:rPr sz="2800" dirty="0">
                <a:latin typeface="Times New Roman"/>
                <a:cs typeface="Times New Roman"/>
              </a:rPr>
              <a:t>using</a:t>
            </a:r>
            <a:r>
              <a:rPr sz="2800" spc="6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Convolutional</a:t>
            </a:r>
            <a:r>
              <a:rPr sz="2800" spc="6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Neural</a:t>
            </a:r>
            <a:r>
              <a:rPr sz="2800" spc="6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Networks</a:t>
            </a:r>
            <a:r>
              <a:rPr sz="2800" spc="6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(CNNs).</a:t>
            </a:r>
            <a:r>
              <a:rPr sz="2800" spc="6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6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project</a:t>
            </a:r>
            <a:r>
              <a:rPr sz="2800" spc="6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also</a:t>
            </a:r>
            <a:r>
              <a:rPr sz="2800" spc="6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aimed</a:t>
            </a:r>
            <a:r>
              <a:rPr sz="2800" spc="6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6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compare</a:t>
            </a:r>
            <a:r>
              <a:rPr sz="2800" spc="64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the </a:t>
            </a:r>
            <a:r>
              <a:rPr sz="2800" dirty="0">
                <a:latin typeface="Times New Roman"/>
                <a:cs typeface="Times New Roman"/>
              </a:rPr>
              <a:t>performance</a:t>
            </a:r>
            <a:r>
              <a:rPr sz="2800" spc="16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17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different</a:t>
            </a:r>
            <a:r>
              <a:rPr sz="2800" spc="16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architectures</a:t>
            </a:r>
            <a:r>
              <a:rPr sz="2800" spc="17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17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analyze</a:t>
            </a:r>
            <a:r>
              <a:rPr sz="2800" spc="16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their</a:t>
            </a:r>
            <a:r>
              <a:rPr sz="2800" spc="16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effectiveness,</a:t>
            </a:r>
            <a:r>
              <a:rPr sz="2800" spc="16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accuracy,</a:t>
            </a:r>
            <a:r>
              <a:rPr sz="2800" spc="175" dirty="0">
                <a:latin typeface="Times New Roman"/>
                <a:cs typeface="Times New Roman"/>
              </a:rPr>
              <a:t>  </a:t>
            </a:r>
            <a:r>
              <a:rPr sz="2800" spc="-25" dirty="0">
                <a:latin typeface="Times New Roman"/>
                <a:cs typeface="Times New Roman"/>
              </a:rPr>
              <a:t>and </a:t>
            </a:r>
            <a:r>
              <a:rPr sz="2800" dirty="0">
                <a:latin typeface="Times New Roman"/>
                <a:cs typeface="Times New Roman"/>
              </a:rPr>
              <a:t>potential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limitations.</a:t>
            </a:r>
            <a:endParaRPr sz="2800">
              <a:latin typeface="Times New Roman"/>
              <a:cs typeface="Times New Roman"/>
            </a:endParaRPr>
          </a:p>
          <a:p>
            <a:pPr marL="467995" marR="6985" indent="-455295" algn="just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469900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3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methodology</a:t>
            </a:r>
            <a:r>
              <a:rPr sz="2800" spc="4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involved</a:t>
            </a:r>
            <a:r>
              <a:rPr sz="2800" spc="4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stages</a:t>
            </a:r>
            <a:r>
              <a:rPr sz="2800" spc="4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such</a:t>
            </a:r>
            <a:r>
              <a:rPr sz="2800" spc="3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3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dataset</a:t>
            </a:r>
            <a:r>
              <a:rPr sz="2800" spc="3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preparation,</a:t>
            </a:r>
            <a:r>
              <a:rPr sz="2800" spc="4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model</a:t>
            </a:r>
            <a:r>
              <a:rPr sz="2800" spc="3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training,</a:t>
            </a:r>
            <a:r>
              <a:rPr sz="2800" spc="39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validation, 	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testing.</a:t>
            </a:r>
            <a:r>
              <a:rPr sz="2800" spc="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final</a:t>
            </a:r>
            <a:r>
              <a:rPr sz="2800" spc="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model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was</a:t>
            </a:r>
            <a:r>
              <a:rPr sz="2800" spc="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integrated</a:t>
            </a:r>
            <a:r>
              <a:rPr sz="2800" spc="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into</a:t>
            </a:r>
            <a:r>
              <a:rPr sz="2800" spc="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user-</a:t>
            </a:r>
            <a:r>
              <a:rPr sz="2800" dirty="0">
                <a:latin typeface="Times New Roman"/>
                <a:cs typeface="Times New Roman"/>
              </a:rPr>
              <a:t>friendly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application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allow</a:t>
            </a:r>
            <a:r>
              <a:rPr sz="2800" spc="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real- 	</a:t>
            </a:r>
            <a:r>
              <a:rPr sz="2800" dirty="0">
                <a:latin typeface="Times New Roman"/>
                <a:cs typeface="Times New Roman"/>
              </a:rPr>
              <a:t>time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disease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prediction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from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uploaded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images.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3"/>
            <a:ext cx="18288000" cy="10273665"/>
            <a:chOff x="0" y="-3"/>
            <a:chExt cx="18288000" cy="102736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3"/>
              <a:ext cx="18287999" cy="1027328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28699" y="1028699"/>
              <a:ext cx="16230600" cy="8229600"/>
            </a:xfrm>
            <a:custGeom>
              <a:avLst/>
              <a:gdLst/>
              <a:ahLst/>
              <a:cxnLst/>
              <a:rect l="l" t="t" r="r" b="b"/>
              <a:pathLst>
                <a:path w="16230600" h="8229600">
                  <a:moveTo>
                    <a:pt x="16138271" y="0"/>
                  </a:moveTo>
                  <a:lnTo>
                    <a:pt x="92367" y="0"/>
                  </a:lnTo>
                  <a:lnTo>
                    <a:pt x="56412" y="7264"/>
                  </a:lnTo>
                  <a:lnTo>
                    <a:pt x="27052" y="27066"/>
                  </a:lnTo>
                  <a:lnTo>
                    <a:pt x="7258" y="56417"/>
                  </a:lnTo>
                  <a:lnTo>
                    <a:pt x="0" y="92328"/>
                  </a:lnTo>
                  <a:lnTo>
                    <a:pt x="0" y="8137232"/>
                  </a:lnTo>
                  <a:lnTo>
                    <a:pt x="7258" y="8173187"/>
                  </a:lnTo>
                  <a:lnTo>
                    <a:pt x="27052" y="8202547"/>
                  </a:lnTo>
                  <a:lnTo>
                    <a:pt x="56412" y="8222341"/>
                  </a:lnTo>
                  <a:lnTo>
                    <a:pt x="92367" y="8229600"/>
                  </a:lnTo>
                  <a:lnTo>
                    <a:pt x="16138271" y="8229600"/>
                  </a:lnTo>
                  <a:lnTo>
                    <a:pt x="16174182" y="8222341"/>
                  </a:lnTo>
                  <a:lnTo>
                    <a:pt x="16203533" y="8202547"/>
                  </a:lnTo>
                  <a:lnTo>
                    <a:pt x="16223335" y="8173187"/>
                  </a:lnTo>
                  <a:lnTo>
                    <a:pt x="16230600" y="8137232"/>
                  </a:lnTo>
                  <a:lnTo>
                    <a:pt x="16230600" y="92328"/>
                  </a:lnTo>
                  <a:lnTo>
                    <a:pt x="16223335" y="56417"/>
                  </a:lnTo>
                  <a:lnTo>
                    <a:pt x="16203533" y="27066"/>
                  </a:lnTo>
                  <a:lnTo>
                    <a:pt x="16174182" y="7264"/>
                  </a:lnTo>
                  <a:lnTo>
                    <a:pt x="16138271" y="0"/>
                  </a:lnTo>
                  <a:close/>
                </a:path>
              </a:pathLst>
            </a:custGeom>
            <a:solidFill>
              <a:srgbClr val="FAFAFA">
                <a:alpha val="8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602212" y="234696"/>
              <a:ext cx="6685915" cy="1217930"/>
            </a:xfrm>
            <a:custGeom>
              <a:avLst/>
              <a:gdLst/>
              <a:ahLst/>
              <a:cxnLst/>
              <a:rect l="l" t="t" r="r" b="b"/>
              <a:pathLst>
                <a:path w="6685915" h="1217930">
                  <a:moveTo>
                    <a:pt x="6685788" y="0"/>
                  </a:moveTo>
                  <a:lnTo>
                    <a:pt x="209296" y="0"/>
                  </a:lnTo>
                  <a:lnTo>
                    <a:pt x="168282" y="4065"/>
                  </a:lnTo>
                  <a:lnTo>
                    <a:pt x="129222" y="15954"/>
                  </a:lnTo>
                  <a:lnTo>
                    <a:pt x="93210" y="35200"/>
                  </a:lnTo>
                  <a:lnTo>
                    <a:pt x="61341" y="61340"/>
                  </a:lnTo>
                  <a:lnTo>
                    <a:pt x="35200" y="93210"/>
                  </a:lnTo>
                  <a:lnTo>
                    <a:pt x="15954" y="129222"/>
                  </a:lnTo>
                  <a:lnTo>
                    <a:pt x="4065" y="168282"/>
                  </a:lnTo>
                  <a:lnTo>
                    <a:pt x="0" y="209296"/>
                  </a:lnTo>
                  <a:lnTo>
                    <a:pt x="0" y="1008379"/>
                  </a:lnTo>
                  <a:lnTo>
                    <a:pt x="4065" y="1049393"/>
                  </a:lnTo>
                  <a:lnTo>
                    <a:pt x="15954" y="1088453"/>
                  </a:lnTo>
                  <a:lnTo>
                    <a:pt x="35200" y="1124465"/>
                  </a:lnTo>
                  <a:lnTo>
                    <a:pt x="61341" y="1156334"/>
                  </a:lnTo>
                  <a:lnTo>
                    <a:pt x="93210" y="1182475"/>
                  </a:lnTo>
                  <a:lnTo>
                    <a:pt x="129222" y="1201721"/>
                  </a:lnTo>
                  <a:lnTo>
                    <a:pt x="168282" y="1213610"/>
                  </a:lnTo>
                  <a:lnTo>
                    <a:pt x="209296" y="1217676"/>
                  </a:lnTo>
                  <a:lnTo>
                    <a:pt x="6685788" y="1217676"/>
                  </a:lnTo>
                  <a:lnTo>
                    <a:pt x="6685788" y="0"/>
                  </a:lnTo>
                  <a:close/>
                </a:path>
              </a:pathLst>
            </a:custGeom>
            <a:solidFill>
              <a:srgbClr val="0D0E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8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Problem</a:t>
            </a:r>
            <a:r>
              <a:rPr spc="180" dirty="0"/>
              <a:t> </a:t>
            </a:r>
            <a:r>
              <a:rPr spc="350" dirty="0"/>
              <a:t>Statement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8302" y="2002815"/>
            <a:ext cx="15697835" cy="5147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0530" marR="5080" indent="-418465" algn="just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433070" algn="l"/>
              </a:tabLst>
            </a:pPr>
            <a:r>
              <a:rPr sz="2800" dirty="0">
                <a:latin typeface="Times New Roman"/>
                <a:cs typeface="Times New Roman"/>
              </a:rPr>
              <a:t>Manual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disease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identification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time-</a:t>
            </a:r>
            <a:r>
              <a:rPr sz="2800" dirty="0">
                <a:latin typeface="Times New Roman"/>
                <a:cs typeface="Times New Roman"/>
              </a:rPr>
              <a:t>consuming,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labor-</a:t>
            </a:r>
            <a:r>
              <a:rPr sz="2800" dirty="0">
                <a:latin typeface="Times New Roman"/>
                <a:cs typeface="Times New Roman"/>
              </a:rPr>
              <a:t>intensive,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highly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prone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human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error.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There’s 	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3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lack</a:t>
            </a:r>
            <a:r>
              <a:rPr sz="2800" spc="4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4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accessible</a:t>
            </a:r>
            <a:r>
              <a:rPr sz="2800" spc="3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409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affordable</a:t>
            </a:r>
            <a:r>
              <a:rPr sz="2800" spc="4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tools</a:t>
            </a:r>
            <a:r>
              <a:rPr sz="2800" spc="409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40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small-</a:t>
            </a:r>
            <a:r>
              <a:rPr sz="2800" dirty="0">
                <a:latin typeface="Times New Roman"/>
                <a:cs typeface="Times New Roman"/>
              </a:rPr>
              <a:t>scale</a:t>
            </a:r>
            <a:r>
              <a:rPr sz="2800" spc="3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farmers</a:t>
            </a:r>
            <a:r>
              <a:rPr sz="2800" spc="4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4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diagnose</a:t>
            </a:r>
            <a:r>
              <a:rPr sz="2800" spc="4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plant</a:t>
            </a:r>
            <a:r>
              <a:rPr sz="2800" spc="3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diseases</a:t>
            </a:r>
            <a:r>
              <a:rPr sz="2800" spc="4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at</a:t>
            </a:r>
            <a:r>
              <a:rPr sz="2800" spc="4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40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early 	stage.</a:t>
            </a:r>
            <a:endParaRPr sz="2800">
              <a:latin typeface="Times New Roman"/>
              <a:cs typeface="Times New Roman"/>
            </a:endParaRPr>
          </a:p>
          <a:p>
            <a:pPr marL="430530" marR="6350" indent="-418465" algn="just">
              <a:lnSpc>
                <a:spcPts val="5040"/>
              </a:lnSpc>
              <a:spcBef>
                <a:spcPts val="450"/>
              </a:spcBef>
              <a:buFont typeface="Arial MT"/>
              <a:buChar char="•"/>
              <a:tabLst>
                <a:tab pos="433070" algn="l"/>
              </a:tabLst>
            </a:pPr>
            <a:r>
              <a:rPr sz="2800" dirty="0">
                <a:latin typeface="Times New Roman"/>
                <a:cs typeface="Times New Roman"/>
              </a:rPr>
              <a:t>Visual</a:t>
            </a:r>
            <a:r>
              <a:rPr sz="2800" spc="3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symptoms</a:t>
            </a:r>
            <a:r>
              <a:rPr sz="2800" spc="4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4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many</a:t>
            </a:r>
            <a:r>
              <a:rPr sz="2800" spc="4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plant</a:t>
            </a:r>
            <a:r>
              <a:rPr sz="2800" spc="4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diseases</a:t>
            </a:r>
            <a:r>
              <a:rPr sz="2800" spc="4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3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often</a:t>
            </a:r>
            <a:r>
              <a:rPr sz="2800" spc="4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similar,</a:t>
            </a:r>
            <a:r>
              <a:rPr sz="2800" spc="4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making</a:t>
            </a:r>
            <a:r>
              <a:rPr sz="2800" spc="4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4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difficult</a:t>
            </a:r>
            <a:r>
              <a:rPr sz="2800" spc="4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even</a:t>
            </a:r>
            <a:r>
              <a:rPr sz="2800" spc="3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4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experts</a:t>
            </a:r>
            <a:r>
              <a:rPr sz="2800" spc="40" dirty="0">
                <a:latin typeface="Times New Roman"/>
                <a:cs typeface="Times New Roman"/>
              </a:rPr>
              <a:t>  </a:t>
            </a:r>
            <a:r>
              <a:rPr sz="2800" spc="-25" dirty="0">
                <a:latin typeface="Times New Roman"/>
                <a:cs typeface="Times New Roman"/>
              </a:rPr>
              <a:t>to 	</a:t>
            </a:r>
            <a:r>
              <a:rPr sz="2800" dirty="0">
                <a:latin typeface="Times New Roman"/>
                <a:cs typeface="Times New Roman"/>
              </a:rPr>
              <a:t>differentiate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without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proper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tools.</a:t>
            </a:r>
            <a:endParaRPr sz="2800">
              <a:latin typeface="Times New Roman"/>
              <a:cs typeface="Times New Roman"/>
            </a:endParaRPr>
          </a:p>
          <a:p>
            <a:pPr marL="431165" indent="-418465" algn="just">
              <a:lnSpc>
                <a:spcPct val="100000"/>
              </a:lnSpc>
              <a:spcBef>
                <a:spcPts val="1235"/>
              </a:spcBef>
              <a:buFont typeface="Arial MT"/>
              <a:buChar char="•"/>
              <a:tabLst>
                <a:tab pos="431165" algn="l"/>
              </a:tabLst>
            </a:pPr>
            <a:r>
              <a:rPr sz="2800" dirty="0">
                <a:latin typeface="Times New Roman"/>
                <a:cs typeface="Times New Roman"/>
              </a:rPr>
              <a:t>Most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farmers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do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have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access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agricultural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specialists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plant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pathologists,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especially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rural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areas.</a:t>
            </a:r>
            <a:endParaRPr sz="2800">
              <a:latin typeface="Times New Roman"/>
              <a:cs typeface="Times New Roman"/>
            </a:endParaRPr>
          </a:p>
          <a:p>
            <a:pPr marL="430530" marR="8255" indent="-418465" algn="just">
              <a:lnSpc>
                <a:spcPct val="150000"/>
              </a:lnSpc>
              <a:buFont typeface="Arial MT"/>
              <a:buChar char="•"/>
              <a:tabLst>
                <a:tab pos="433070" algn="l"/>
              </a:tabLst>
            </a:pPr>
            <a:r>
              <a:rPr sz="2800" dirty="0">
                <a:latin typeface="Times New Roman"/>
                <a:cs typeface="Times New Roman"/>
              </a:rPr>
              <a:t>Delays</a:t>
            </a:r>
            <a:r>
              <a:rPr sz="2800" spc="30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30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identifying</a:t>
            </a:r>
            <a:r>
              <a:rPr sz="2800" spc="31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diseases</a:t>
            </a:r>
            <a:r>
              <a:rPr sz="2800" spc="31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lead</a:t>
            </a:r>
            <a:r>
              <a:rPr sz="2800" spc="30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30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widespread</a:t>
            </a:r>
            <a:r>
              <a:rPr sz="2800" spc="30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infection,</a:t>
            </a:r>
            <a:r>
              <a:rPr sz="2800" spc="30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causing</a:t>
            </a:r>
            <a:r>
              <a:rPr sz="2800" spc="30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substantial</a:t>
            </a:r>
            <a:r>
              <a:rPr sz="2800" spc="31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crop</a:t>
            </a:r>
            <a:r>
              <a:rPr sz="2800" spc="31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loss</a:t>
            </a:r>
            <a:r>
              <a:rPr sz="2800" spc="300" dirty="0">
                <a:latin typeface="Times New Roman"/>
                <a:cs typeface="Times New Roman"/>
              </a:rPr>
              <a:t>  </a:t>
            </a:r>
            <a:r>
              <a:rPr sz="2800" spc="-25" dirty="0">
                <a:latin typeface="Times New Roman"/>
                <a:cs typeface="Times New Roman"/>
              </a:rPr>
              <a:t>and 	</a:t>
            </a:r>
            <a:r>
              <a:rPr sz="2800" dirty="0">
                <a:latin typeface="Times New Roman"/>
                <a:cs typeface="Times New Roman"/>
              </a:rPr>
              <a:t>reduced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productivity.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19555" y="1912620"/>
            <a:ext cx="16230600" cy="8027034"/>
          </a:xfrm>
          <a:custGeom>
            <a:avLst/>
            <a:gdLst/>
            <a:ahLst/>
            <a:cxnLst/>
            <a:rect l="l" t="t" r="r" b="b"/>
            <a:pathLst>
              <a:path w="16230600" h="8027034">
                <a:moveTo>
                  <a:pt x="16138271" y="0"/>
                </a:moveTo>
                <a:lnTo>
                  <a:pt x="92367" y="0"/>
                </a:lnTo>
                <a:lnTo>
                  <a:pt x="56412" y="7086"/>
                </a:lnTo>
                <a:lnTo>
                  <a:pt x="27052" y="26400"/>
                </a:lnTo>
                <a:lnTo>
                  <a:pt x="7258" y="55024"/>
                </a:lnTo>
                <a:lnTo>
                  <a:pt x="0" y="90043"/>
                </a:lnTo>
                <a:lnTo>
                  <a:pt x="0" y="7936814"/>
                </a:lnTo>
                <a:lnTo>
                  <a:pt x="7258" y="7971883"/>
                </a:lnTo>
                <a:lnTo>
                  <a:pt x="27052" y="8000520"/>
                </a:lnTo>
                <a:lnTo>
                  <a:pt x="56412" y="8019828"/>
                </a:lnTo>
                <a:lnTo>
                  <a:pt x="92367" y="8026908"/>
                </a:lnTo>
                <a:lnTo>
                  <a:pt x="16138271" y="8026908"/>
                </a:lnTo>
                <a:lnTo>
                  <a:pt x="16174182" y="8019828"/>
                </a:lnTo>
                <a:lnTo>
                  <a:pt x="16203533" y="8000520"/>
                </a:lnTo>
                <a:lnTo>
                  <a:pt x="16223335" y="7971883"/>
                </a:lnTo>
                <a:lnTo>
                  <a:pt x="16230600" y="7936814"/>
                </a:lnTo>
                <a:lnTo>
                  <a:pt x="16230600" y="90043"/>
                </a:lnTo>
                <a:lnTo>
                  <a:pt x="16223335" y="55024"/>
                </a:lnTo>
                <a:lnTo>
                  <a:pt x="16203533" y="26400"/>
                </a:lnTo>
                <a:lnTo>
                  <a:pt x="16174182" y="7086"/>
                </a:lnTo>
                <a:lnTo>
                  <a:pt x="16138271" y="0"/>
                </a:lnTo>
                <a:close/>
              </a:path>
            </a:pathLst>
          </a:custGeom>
          <a:solidFill>
            <a:srgbClr val="FAFAFA">
              <a:alpha val="8980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7991" y="1857272"/>
            <a:ext cx="16052800" cy="5146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 marR="5080" indent="-341630" algn="just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current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agricultural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ecosystem,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most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farmers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rely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manual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inspection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plants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detect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diseases.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This 	</a:t>
            </a:r>
            <a:r>
              <a:rPr sz="2800" dirty="0">
                <a:latin typeface="Times New Roman"/>
                <a:cs typeface="Times New Roman"/>
              </a:rPr>
              <a:t>approach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requires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expert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knowledge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often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time-consuming,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expensive,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prone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human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error.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Some 	</a:t>
            </a:r>
            <a:r>
              <a:rPr sz="2800" dirty="0">
                <a:latin typeface="Times New Roman"/>
                <a:cs typeface="Times New Roman"/>
              </a:rPr>
              <a:t>farmers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may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able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recognize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early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signs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plant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disease,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which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result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major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crop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losses.</a:t>
            </a:r>
            <a:endParaRPr sz="2800">
              <a:latin typeface="Times New Roman"/>
              <a:cs typeface="Times New Roman"/>
            </a:endParaRPr>
          </a:p>
          <a:p>
            <a:pPr marL="353695" indent="-340995" algn="just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353695" algn="l"/>
              </a:tabLst>
            </a:pPr>
            <a:r>
              <a:rPr sz="2800" dirty="0">
                <a:latin typeface="Times New Roman"/>
                <a:cs typeface="Times New Roman"/>
              </a:rPr>
              <a:t>Traditional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methods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involve:</a:t>
            </a:r>
            <a:endParaRPr sz="2800">
              <a:latin typeface="Times New Roman"/>
              <a:cs typeface="Times New Roman"/>
            </a:endParaRPr>
          </a:p>
          <a:p>
            <a:pPr marL="354330" indent="-341630" algn="just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354330" algn="l"/>
              </a:tabLst>
            </a:pPr>
            <a:r>
              <a:rPr sz="2800" dirty="0">
                <a:latin typeface="Times New Roman"/>
                <a:cs typeface="Times New Roman"/>
              </a:rPr>
              <a:t>Real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time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detection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accuracy.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Automation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intelligent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decision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making.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Proper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disease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classification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friendly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feedback.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685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spc="-10" dirty="0">
                <a:latin typeface="Times New Roman"/>
                <a:cs typeface="Times New Roman"/>
              </a:rPr>
              <a:t>Visual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identification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leaf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spots,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color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changes,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damage.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602211" y="419100"/>
            <a:ext cx="6685915" cy="1219200"/>
          </a:xfrm>
          <a:custGeom>
            <a:avLst/>
            <a:gdLst/>
            <a:ahLst/>
            <a:cxnLst/>
            <a:rect l="l" t="t" r="r" b="b"/>
            <a:pathLst>
              <a:path w="6685915" h="1219200">
                <a:moveTo>
                  <a:pt x="6685788" y="0"/>
                </a:moveTo>
                <a:lnTo>
                  <a:pt x="209296" y="0"/>
                </a:lnTo>
                <a:lnTo>
                  <a:pt x="168282" y="4065"/>
                </a:lnTo>
                <a:lnTo>
                  <a:pt x="129222" y="15954"/>
                </a:lnTo>
                <a:lnTo>
                  <a:pt x="93210" y="35200"/>
                </a:lnTo>
                <a:lnTo>
                  <a:pt x="61341" y="61341"/>
                </a:lnTo>
                <a:lnTo>
                  <a:pt x="35200" y="93285"/>
                </a:lnTo>
                <a:lnTo>
                  <a:pt x="15954" y="129349"/>
                </a:lnTo>
                <a:lnTo>
                  <a:pt x="4065" y="168461"/>
                </a:lnTo>
                <a:lnTo>
                  <a:pt x="0" y="209550"/>
                </a:lnTo>
                <a:lnTo>
                  <a:pt x="0" y="1009650"/>
                </a:lnTo>
                <a:lnTo>
                  <a:pt x="4065" y="1050738"/>
                </a:lnTo>
                <a:lnTo>
                  <a:pt x="15954" y="1089850"/>
                </a:lnTo>
                <a:lnTo>
                  <a:pt x="35200" y="1125914"/>
                </a:lnTo>
                <a:lnTo>
                  <a:pt x="61341" y="1157858"/>
                </a:lnTo>
                <a:lnTo>
                  <a:pt x="93210" y="1183999"/>
                </a:lnTo>
                <a:lnTo>
                  <a:pt x="129222" y="1203245"/>
                </a:lnTo>
                <a:lnTo>
                  <a:pt x="168282" y="1215134"/>
                </a:lnTo>
                <a:lnTo>
                  <a:pt x="209296" y="1219200"/>
                </a:lnTo>
                <a:lnTo>
                  <a:pt x="6685788" y="1219200"/>
                </a:lnTo>
                <a:lnTo>
                  <a:pt x="6685788" y="0"/>
                </a:lnTo>
                <a:close/>
              </a:path>
            </a:pathLst>
          </a:custGeom>
          <a:solidFill>
            <a:srgbClr val="0D0E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80390">
              <a:lnSpc>
                <a:spcPct val="100000"/>
              </a:lnSpc>
              <a:spcBef>
                <a:spcPts val="125"/>
              </a:spcBef>
            </a:pPr>
            <a:r>
              <a:rPr sz="3900" spc="254" dirty="0"/>
              <a:t>Existing</a:t>
            </a:r>
            <a:r>
              <a:rPr sz="3900" spc="180" dirty="0"/>
              <a:t> </a:t>
            </a:r>
            <a:r>
              <a:rPr sz="3900" spc="300" dirty="0"/>
              <a:t>System</a:t>
            </a:r>
            <a:endParaRPr sz="3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3"/>
            <a:ext cx="18287999" cy="1027328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52400" y="419100"/>
            <a:ext cx="18135600" cy="9014460"/>
            <a:chOff x="152400" y="419100"/>
            <a:chExt cx="18135600" cy="9014460"/>
          </a:xfrm>
        </p:grpSpPr>
        <p:sp>
          <p:nvSpPr>
            <p:cNvPr id="4" name="object 4"/>
            <p:cNvSpPr/>
            <p:nvPr/>
          </p:nvSpPr>
          <p:spPr>
            <a:xfrm>
              <a:off x="152400" y="1203959"/>
              <a:ext cx="16230600" cy="8229600"/>
            </a:xfrm>
            <a:custGeom>
              <a:avLst/>
              <a:gdLst/>
              <a:ahLst/>
              <a:cxnLst/>
              <a:rect l="l" t="t" r="r" b="b"/>
              <a:pathLst>
                <a:path w="16230600" h="8229600">
                  <a:moveTo>
                    <a:pt x="16138271" y="0"/>
                  </a:moveTo>
                  <a:lnTo>
                    <a:pt x="92367" y="0"/>
                  </a:lnTo>
                  <a:lnTo>
                    <a:pt x="56412" y="7264"/>
                  </a:lnTo>
                  <a:lnTo>
                    <a:pt x="27052" y="27066"/>
                  </a:lnTo>
                  <a:lnTo>
                    <a:pt x="7258" y="56417"/>
                  </a:lnTo>
                  <a:lnTo>
                    <a:pt x="0" y="92329"/>
                  </a:lnTo>
                  <a:lnTo>
                    <a:pt x="0" y="8137232"/>
                  </a:lnTo>
                  <a:lnTo>
                    <a:pt x="7258" y="8173187"/>
                  </a:lnTo>
                  <a:lnTo>
                    <a:pt x="27052" y="8202547"/>
                  </a:lnTo>
                  <a:lnTo>
                    <a:pt x="56412" y="8222341"/>
                  </a:lnTo>
                  <a:lnTo>
                    <a:pt x="92367" y="8229600"/>
                  </a:lnTo>
                  <a:lnTo>
                    <a:pt x="16138271" y="8229600"/>
                  </a:lnTo>
                  <a:lnTo>
                    <a:pt x="16174182" y="8222341"/>
                  </a:lnTo>
                  <a:lnTo>
                    <a:pt x="16203533" y="8202547"/>
                  </a:lnTo>
                  <a:lnTo>
                    <a:pt x="16223335" y="8173187"/>
                  </a:lnTo>
                  <a:lnTo>
                    <a:pt x="16230600" y="8137232"/>
                  </a:lnTo>
                  <a:lnTo>
                    <a:pt x="16230600" y="92329"/>
                  </a:lnTo>
                  <a:lnTo>
                    <a:pt x="16223335" y="56417"/>
                  </a:lnTo>
                  <a:lnTo>
                    <a:pt x="16203533" y="27066"/>
                  </a:lnTo>
                  <a:lnTo>
                    <a:pt x="16174182" y="7264"/>
                  </a:lnTo>
                  <a:lnTo>
                    <a:pt x="16138271" y="0"/>
                  </a:lnTo>
                  <a:close/>
                </a:path>
              </a:pathLst>
            </a:custGeom>
            <a:solidFill>
              <a:srgbClr val="FAFAFA">
                <a:alpha val="8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602211" y="419100"/>
              <a:ext cx="6685915" cy="1219200"/>
            </a:xfrm>
            <a:custGeom>
              <a:avLst/>
              <a:gdLst/>
              <a:ahLst/>
              <a:cxnLst/>
              <a:rect l="l" t="t" r="r" b="b"/>
              <a:pathLst>
                <a:path w="6685915" h="1219200">
                  <a:moveTo>
                    <a:pt x="6685788" y="0"/>
                  </a:moveTo>
                  <a:lnTo>
                    <a:pt x="209296" y="0"/>
                  </a:lnTo>
                  <a:lnTo>
                    <a:pt x="168282" y="4065"/>
                  </a:lnTo>
                  <a:lnTo>
                    <a:pt x="129222" y="15954"/>
                  </a:lnTo>
                  <a:lnTo>
                    <a:pt x="93210" y="35200"/>
                  </a:lnTo>
                  <a:lnTo>
                    <a:pt x="61341" y="61341"/>
                  </a:lnTo>
                  <a:lnTo>
                    <a:pt x="35200" y="93285"/>
                  </a:lnTo>
                  <a:lnTo>
                    <a:pt x="15954" y="129349"/>
                  </a:lnTo>
                  <a:lnTo>
                    <a:pt x="4065" y="168461"/>
                  </a:lnTo>
                  <a:lnTo>
                    <a:pt x="0" y="209550"/>
                  </a:lnTo>
                  <a:lnTo>
                    <a:pt x="0" y="1009650"/>
                  </a:lnTo>
                  <a:lnTo>
                    <a:pt x="4065" y="1050738"/>
                  </a:lnTo>
                  <a:lnTo>
                    <a:pt x="15954" y="1089850"/>
                  </a:lnTo>
                  <a:lnTo>
                    <a:pt x="35200" y="1125914"/>
                  </a:lnTo>
                  <a:lnTo>
                    <a:pt x="61341" y="1157858"/>
                  </a:lnTo>
                  <a:lnTo>
                    <a:pt x="93210" y="1183999"/>
                  </a:lnTo>
                  <a:lnTo>
                    <a:pt x="129222" y="1203245"/>
                  </a:lnTo>
                  <a:lnTo>
                    <a:pt x="168282" y="1215134"/>
                  </a:lnTo>
                  <a:lnTo>
                    <a:pt x="209296" y="1219200"/>
                  </a:lnTo>
                  <a:lnTo>
                    <a:pt x="6685788" y="1219200"/>
                  </a:lnTo>
                  <a:lnTo>
                    <a:pt x="6685788" y="0"/>
                  </a:lnTo>
                  <a:close/>
                </a:path>
              </a:pathLst>
            </a:custGeom>
            <a:solidFill>
              <a:srgbClr val="0D0E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0306" rIns="0" bIns="0" rtlCol="0">
            <a:spAutoFit/>
          </a:bodyPr>
          <a:lstStyle/>
          <a:p>
            <a:pPr marL="1158875">
              <a:lnSpc>
                <a:spcPct val="100000"/>
              </a:lnSpc>
              <a:spcBef>
                <a:spcPts val="105"/>
              </a:spcBef>
            </a:pPr>
            <a:r>
              <a:rPr sz="3450" spc="240" dirty="0"/>
              <a:t>Proposed</a:t>
            </a:r>
            <a:r>
              <a:rPr sz="3450" spc="125" dirty="0"/>
              <a:t> </a:t>
            </a:r>
            <a:r>
              <a:rPr sz="3450" spc="250" dirty="0"/>
              <a:t>System</a:t>
            </a:r>
            <a:endParaRPr sz="3450"/>
          </a:p>
        </p:txBody>
      </p:sp>
      <p:sp>
        <p:nvSpPr>
          <p:cNvPr id="7" name="object 7"/>
          <p:cNvSpPr txBox="1"/>
          <p:nvPr/>
        </p:nvSpPr>
        <p:spPr>
          <a:xfrm>
            <a:off x="292100" y="2002053"/>
            <a:ext cx="17835880" cy="834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09650" algn="just">
              <a:lnSpc>
                <a:spcPct val="15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proposed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automated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plant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leaf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disease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detection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model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using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Convolutional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Neural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Networks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(CNN) </a:t>
            </a:r>
            <a:r>
              <a:rPr sz="2800" dirty="0">
                <a:latin typeface="Times New Roman"/>
                <a:cs typeface="Times New Roman"/>
              </a:rPr>
              <a:t>integrated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user-</a:t>
            </a:r>
            <a:r>
              <a:rPr sz="2800" dirty="0">
                <a:latin typeface="Times New Roman"/>
                <a:cs typeface="Times New Roman"/>
              </a:rPr>
              <a:t>friendly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Streamlit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web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application.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This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processes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images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plant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leaves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accurately </a:t>
            </a:r>
            <a:r>
              <a:rPr sz="2800" dirty="0">
                <a:latin typeface="Times New Roman"/>
                <a:cs typeface="Times New Roman"/>
              </a:rPr>
              <a:t>classifies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them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healthy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diseased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categories.</a:t>
            </a:r>
            <a:endParaRPr sz="2800">
              <a:latin typeface="Times New Roman"/>
              <a:cs typeface="Times New Roman"/>
            </a:endParaRPr>
          </a:p>
          <a:p>
            <a:pPr marL="12700" marR="344170">
              <a:lnSpc>
                <a:spcPct val="150000"/>
              </a:lnSpc>
            </a:pPr>
            <a:r>
              <a:rPr sz="2800" dirty="0">
                <a:latin typeface="Times New Roman"/>
                <a:cs typeface="Times New Roman"/>
              </a:rPr>
              <a:t>Deep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Learning-</a:t>
            </a:r>
            <a:r>
              <a:rPr sz="2800" dirty="0">
                <a:latin typeface="Times New Roman"/>
                <a:cs typeface="Times New Roman"/>
              </a:rPr>
              <a:t>based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Detection: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Utilizes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CNN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model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trained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large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dataset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leaf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images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detect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classify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plant </a:t>
            </a:r>
            <a:r>
              <a:rPr sz="2800" dirty="0">
                <a:latin typeface="Times New Roman"/>
                <a:cs typeface="Times New Roman"/>
              </a:rPr>
              <a:t>diseases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high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accuracy.</a:t>
            </a:r>
            <a:endParaRPr sz="2800">
              <a:latin typeface="Times New Roman"/>
              <a:cs typeface="Times New Roman"/>
            </a:endParaRPr>
          </a:p>
          <a:p>
            <a:pPr marL="12700" marR="573405" indent="210820">
              <a:lnSpc>
                <a:spcPts val="5040"/>
              </a:lnSpc>
              <a:spcBef>
                <a:spcPts val="450"/>
              </a:spcBef>
              <a:buSzPct val="98214"/>
              <a:buFont typeface="Arial MT"/>
              <a:buChar char="•"/>
              <a:tabLst>
                <a:tab pos="223520" algn="l"/>
              </a:tabLst>
            </a:pPr>
            <a:r>
              <a:rPr sz="2800" spc="-10" dirty="0">
                <a:latin typeface="Times New Roman"/>
                <a:cs typeface="Times New Roman"/>
              </a:rPr>
              <a:t>Multi-</a:t>
            </a:r>
            <a:r>
              <a:rPr sz="2800" dirty="0">
                <a:latin typeface="Times New Roman"/>
                <a:cs typeface="Times New Roman"/>
              </a:rPr>
              <a:t>Crop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Support: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model 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trained on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variety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 plant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leaf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types,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limited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single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crop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like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tomato.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can </a:t>
            </a:r>
            <a:r>
              <a:rPr sz="2800" dirty="0">
                <a:latin typeface="Times New Roman"/>
                <a:cs typeface="Times New Roman"/>
              </a:rPr>
              <a:t>detect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multiple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plant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diseases.</a:t>
            </a:r>
            <a:endParaRPr sz="2800">
              <a:latin typeface="Times New Roman"/>
              <a:cs typeface="Times New Roman"/>
            </a:endParaRPr>
          </a:p>
          <a:p>
            <a:pPr marL="12700" marR="907415" indent="-12065">
              <a:lnSpc>
                <a:spcPts val="5040"/>
              </a:lnSpc>
              <a:buSzPct val="98214"/>
              <a:buFont typeface="Arial MT"/>
              <a:buChar char="•"/>
              <a:tabLst>
                <a:tab pos="135255" algn="l"/>
              </a:tabLst>
            </a:pPr>
            <a:r>
              <a:rPr sz="2800" spc="-20" dirty="0">
                <a:latin typeface="Times New Roman"/>
                <a:cs typeface="Times New Roman"/>
              </a:rPr>
              <a:t>	High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Accuracy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&amp;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Speed:</a:t>
            </a:r>
            <a:r>
              <a:rPr sz="2800" spc="-1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Achieves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over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95%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validation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accuracy,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ensuring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reliable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fast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detection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during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real-</a:t>
            </a:r>
            <a:r>
              <a:rPr sz="2800" spc="-20" dirty="0">
                <a:latin typeface="Times New Roman"/>
                <a:cs typeface="Times New Roman"/>
              </a:rPr>
              <a:t>time </a:t>
            </a:r>
            <a:r>
              <a:rPr sz="2800" spc="-10" dirty="0">
                <a:latin typeface="Times New Roman"/>
                <a:cs typeface="Times New Roman"/>
              </a:rPr>
              <a:t>testing.</a:t>
            </a:r>
            <a:endParaRPr sz="2800">
              <a:latin typeface="Times New Roman"/>
              <a:cs typeface="Times New Roman"/>
            </a:endParaRPr>
          </a:p>
          <a:p>
            <a:pPr marL="12700" marR="418465" indent="-12065">
              <a:lnSpc>
                <a:spcPts val="5040"/>
              </a:lnSpc>
              <a:spcBef>
                <a:spcPts val="5"/>
              </a:spcBef>
              <a:buSzPct val="98214"/>
              <a:buFont typeface="Arial MT"/>
              <a:buChar char="•"/>
              <a:tabLst>
                <a:tab pos="135255" algn="l"/>
              </a:tabLst>
            </a:pPr>
            <a:r>
              <a:rPr sz="2800" spc="-30" dirty="0">
                <a:latin typeface="Times New Roman"/>
                <a:cs typeface="Times New Roman"/>
              </a:rPr>
              <a:t>	User-</a:t>
            </a:r>
            <a:r>
              <a:rPr sz="2800" dirty="0">
                <a:latin typeface="Times New Roman"/>
                <a:cs typeface="Times New Roman"/>
              </a:rPr>
              <a:t>Friendly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Interface: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Implements Streamlit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simple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clean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UI,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allowing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upload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images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get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disease </a:t>
            </a:r>
            <a:r>
              <a:rPr sz="2800" dirty="0">
                <a:latin typeface="Times New Roman"/>
                <a:cs typeface="Times New Roman"/>
              </a:rPr>
              <a:t>predictions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instantly.</a:t>
            </a:r>
            <a:endParaRPr sz="2800">
              <a:latin typeface="Times New Roman"/>
              <a:cs typeface="Times New Roman"/>
            </a:endParaRPr>
          </a:p>
          <a:p>
            <a:pPr marL="12700" marR="5080" indent="-12065">
              <a:lnSpc>
                <a:spcPts val="5040"/>
              </a:lnSpc>
              <a:buSzPct val="98214"/>
              <a:buFont typeface="Arial MT"/>
              <a:buChar char="•"/>
              <a:tabLst>
                <a:tab pos="135255" algn="l"/>
              </a:tabLst>
            </a:pPr>
            <a:r>
              <a:rPr sz="2800" dirty="0">
                <a:latin typeface="Times New Roman"/>
                <a:cs typeface="Times New Roman"/>
              </a:rPr>
              <a:t>	OpenCV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Integration: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Helps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preprocessing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images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like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resizing,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normalization,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color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adjustments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enhance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model </a:t>
            </a:r>
            <a:r>
              <a:rPr sz="2800" spc="-10" dirty="0">
                <a:latin typeface="Times New Roman"/>
                <a:cs typeface="Times New Roman"/>
              </a:rPr>
              <a:t>performance.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3"/>
            <a:ext cx="18287999" cy="1027328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325880" y="419100"/>
            <a:ext cx="16962120" cy="9321165"/>
            <a:chOff x="1325880" y="419100"/>
            <a:chExt cx="16962120" cy="9321165"/>
          </a:xfrm>
        </p:grpSpPr>
        <p:sp>
          <p:nvSpPr>
            <p:cNvPr id="4" name="object 4"/>
            <p:cNvSpPr/>
            <p:nvPr/>
          </p:nvSpPr>
          <p:spPr>
            <a:xfrm>
              <a:off x="1325880" y="1510283"/>
              <a:ext cx="16230600" cy="8229600"/>
            </a:xfrm>
            <a:custGeom>
              <a:avLst/>
              <a:gdLst/>
              <a:ahLst/>
              <a:cxnLst/>
              <a:rect l="l" t="t" r="r" b="b"/>
              <a:pathLst>
                <a:path w="16230600" h="8229600">
                  <a:moveTo>
                    <a:pt x="16138271" y="0"/>
                  </a:moveTo>
                  <a:lnTo>
                    <a:pt x="92328" y="0"/>
                  </a:lnTo>
                  <a:lnTo>
                    <a:pt x="56417" y="7264"/>
                  </a:lnTo>
                  <a:lnTo>
                    <a:pt x="27066" y="27066"/>
                  </a:lnTo>
                  <a:lnTo>
                    <a:pt x="7264" y="56417"/>
                  </a:lnTo>
                  <a:lnTo>
                    <a:pt x="0" y="92329"/>
                  </a:lnTo>
                  <a:lnTo>
                    <a:pt x="0" y="8137232"/>
                  </a:lnTo>
                  <a:lnTo>
                    <a:pt x="7264" y="8173187"/>
                  </a:lnTo>
                  <a:lnTo>
                    <a:pt x="27066" y="8202547"/>
                  </a:lnTo>
                  <a:lnTo>
                    <a:pt x="56417" y="8222341"/>
                  </a:lnTo>
                  <a:lnTo>
                    <a:pt x="92328" y="8229600"/>
                  </a:lnTo>
                  <a:lnTo>
                    <a:pt x="16138271" y="8229600"/>
                  </a:lnTo>
                  <a:lnTo>
                    <a:pt x="16174182" y="8222341"/>
                  </a:lnTo>
                  <a:lnTo>
                    <a:pt x="16203533" y="8202547"/>
                  </a:lnTo>
                  <a:lnTo>
                    <a:pt x="16223335" y="8173187"/>
                  </a:lnTo>
                  <a:lnTo>
                    <a:pt x="16230600" y="8137232"/>
                  </a:lnTo>
                  <a:lnTo>
                    <a:pt x="16230600" y="92329"/>
                  </a:lnTo>
                  <a:lnTo>
                    <a:pt x="16223335" y="56417"/>
                  </a:lnTo>
                  <a:lnTo>
                    <a:pt x="16203533" y="27066"/>
                  </a:lnTo>
                  <a:lnTo>
                    <a:pt x="16174182" y="7264"/>
                  </a:lnTo>
                  <a:lnTo>
                    <a:pt x="16138271" y="0"/>
                  </a:lnTo>
                  <a:close/>
                </a:path>
              </a:pathLst>
            </a:custGeom>
            <a:solidFill>
              <a:srgbClr val="FAFAFA">
                <a:alpha val="8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602211" y="419100"/>
              <a:ext cx="6685915" cy="1219200"/>
            </a:xfrm>
            <a:custGeom>
              <a:avLst/>
              <a:gdLst/>
              <a:ahLst/>
              <a:cxnLst/>
              <a:rect l="l" t="t" r="r" b="b"/>
              <a:pathLst>
                <a:path w="6685915" h="1219200">
                  <a:moveTo>
                    <a:pt x="6685788" y="0"/>
                  </a:moveTo>
                  <a:lnTo>
                    <a:pt x="209296" y="0"/>
                  </a:lnTo>
                  <a:lnTo>
                    <a:pt x="168282" y="4065"/>
                  </a:lnTo>
                  <a:lnTo>
                    <a:pt x="129222" y="15954"/>
                  </a:lnTo>
                  <a:lnTo>
                    <a:pt x="93210" y="35200"/>
                  </a:lnTo>
                  <a:lnTo>
                    <a:pt x="61341" y="61341"/>
                  </a:lnTo>
                  <a:lnTo>
                    <a:pt x="35200" y="93285"/>
                  </a:lnTo>
                  <a:lnTo>
                    <a:pt x="15954" y="129349"/>
                  </a:lnTo>
                  <a:lnTo>
                    <a:pt x="4065" y="168461"/>
                  </a:lnTo>
                  <a:lnTo>
                    <a:pt x="0" y="209550"/>
                  </a:lnTo>
                  <a:lnTo>
                    <a:pt x="0" y="1009650"/>
                  </a:lnTo>
                  <a:lnTo>
                    <a:pt x="4065" y="1050738"/>
                  </a:lnTo>
                  <a:lnTo>
                    <a:pt x="15954" y="1089850"/>
                  </a:lnTo>
                  <a:lnTo>
                    <a:pt x="35200" y="1125914"/>
                  </a:lnTo>
                  <a:lnTo>
                    <a:pt x="61341" y="1157858"/>
                  </a:lnTo>
                  <a:lnTo>
                    <a:pt x="93210" y="1183999"/>
                  </a:lnTo>
                  <a:lnTo>
                    <a:pt x="129222" y="1203245"/>
                  </a:lnTo>
                  <a:lnTo>
                    <a:pt x="168282" y="1215134"/>
                  </a:lnTo>
                  <a:lnTo>
                    <a:pt x="209296" y="1219200"/>
                  </a:lnTo>
                  <a:lnTo>
                    <a:pt x="6685788" y="1219200"/>
                  </a:lnTo>
                  <a:lnTo>
                    <a:pt x="6685788" y="0"/>
                  </a:lnTo>
                  <a:close/>
                </a:path>
              </a:pathLst>
            </a:custGeom>
            <a:solidFill>
              <a:srgbClr val="0D0E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0306" rIns="0" bIns="0" rtlCol="0">
            <a:spAutoFit/>
          </a:bodyPr>
          <a:lstStyle/>
          <a:p>
            <a:pPr marL="1610360">
              <a:lnSpc>
                <a:spcPct val="100000"/>
              </a:lnSpc>
              <a:spcBef>
                <a:spcPts val="105"/>
              </a:spcBef>
            </a:pPr>
            <a:r>
              <a:rPr sz="3450" spc="235" dirty="0"/>
              <a:t>Methodology</a:t>
            </a:r>
            <a:endParaRPr sz="3450"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10200" y="2354579"/>
            <a:ext cx="9255252" cy="66141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3"/>
            <a:ext cx="18288000" cy="10273665"/>
            <a:chOff x="0" y="-3"/>
            <a:chExt cx="18288000" cy="102736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3"/>
              <a:ext cx="18287999" cy="1027328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325880" y="1510284"/>
              <a:ext cx="16230600" cy="8229600"/>
            </a:xfrm>
            <a:custGeom>
              <a:avLst/>
              <a:gdLst/>
              <a:ahLst/>
              <a:cxnLst/>
              <a:rect l="l" t="t" r="r" b="b"/>
              <a:pathLst>
                <a:path w="16230600" h="8229600">
                  <a:moveTo>
                    <a:pt x="16138271" y="0"/>
                  </a:moveTo>
                  <a:lnTo>
                    <a:pt x="92328" y="0"/>
                  </a:lnTo>
                  <a:lnTo>
                    <a:pt x="56417" y="7264"/>
                  </a:lnTo>
                  <a:lnTo>
                    <a:pt x="27066" y="27066"/>
                  </a:lnTo>
                  <a:lnTo>
                    <a:pt x="7264" y="56417"/>
                  </a:lnTo>
                  <a:lnTo>
                    <a:pt x="0" y="92329"/>
                  </a:lnTo>
                  <a:lnTo>
                    <a:pt x="0" y="8137232"/>
                  </a:lnTo>
                  <a:lnTo>
                    <a:pt x="7264" y="8173187"/>
                  </a:lnTo>
                  <a:lnTo>
                    <a:pt x="27066" y="8202547"/>
                  </a:lnTo>
                  <a:lnTo>
                    <a:pt x="56417" y="8222341"/>
                  </a:lnTo>
                  <a:lnTo>
                    <a:pt x="92328" y="8229600"/>
                  </a:lnTo>
                  <a:lnTo>
                    <a:pt x="16138271" y="8229600"/>
                  </a:lnTo>
                  <a:lnTo>
                    <a:pt x="16174182" y="8222341"/>
                  </a:lnTo>
                  <a:lnTo>
                    <a:pt x="16203533" y="8202547"/>
                  </a:lnTo>
                  <a:lnTo>
                    <a:pt x="16223335" y="8173187"/>
                  </a:lnTo>
                  <a:lnTo>
                    <a:pt x="16230600" y="8137232"/>
                  </a:lnTo>
                  <a:lnTo>
                    <a:pt x="16230600" y="92329"/>
                  </a:lnTo>
                  <a:lnTo>
                    <a:pt x="16223335" y="56417"/>
                  </a:lnTo>
                  <a:lnTo>
                    <a:pt x="16203533" y="27066"/>
                  </a:lnTo>
                  <a:lnTo>
                    <a:pt x="16174182" y="7264"/>
                  </a:lnTo>
                  <a:lnTo>
                    <a:pt x="16138271" y="0"/>
                  </a:lnTo>
                  <a:close/>
                </a:path>
              </a:pathLst>
            </a:custGeom>
            <a:solidFill>
              <a:srgbClr val="FAFAFA">
                <a:alpha val="8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602212" y="419100"/>
              <a:ext cx="6685915" cy="1219200"/>
            </a:xfrm>
            <a:custGeom>
              <a:avLst/>
              <a:gdLst/>
              <a:ahLst/>
              <a:cxnLst/>
              <a:rect l="l" t="t" r="r" b="b"/>
              <a:pathLst>
                <a:path w="6685915" h="1219200">
                  <a:moveTo>
                    <a:pt x="6685788" y="0"/>
                  </a:moveTo>
                  <a:lnTo>
                    <a:pt x="209296" y="0"/>
                  </a:lnTo>
                  <a:lnTo>
                    <a:pt x="168282" y="4065"/>
                  </a:lnTo>
                  <a:lnTo>
                    <a:pt x="129222" y="15954"/>
                  </a:lnTo>
                  <a:lnTo>
                    <a:pt x="93210" y="35200"/>
                  </a:lnTo>
                  <a:lnTo>
                    <a:pt x="61341" y="61341"/>
                  </a:lnTo>
                  <a:lnTo>
                    <a:pt x="35200" y="93285"/>
                  </a:lnTo>
                  <a:lnTo>
                    <a:pt x="15954" y="129349"/>
                  </a:lnTo>
                  <a:lnTo>
                    <a:pt x="4065" y="168461"/>
                  </a:lnTo>
                  <a:lnTo>
                    <a:pt x="0" y="209550"/>
                  </a:lnTo>
                  <a:lnTo>
                    <a:pt x="0" y="1009650"/>
                  </a:lnTo>
                  <a:lnTo>
                    <a:pt x="4065" y="1050738"/>
                  </a:lnTo>
                  <a:lnTo>
                    <a:pt x="15954" y="1089850"/>
                  </a:lnTo>
                  <a:lnTo>
                    <a:pt x="35200" y="1125914"/>
                  </a:lnTo>
                  <a:lnTo>
                    <a:pt x="61341" y="1157858"/>
                  </a:lnTo>
                  <a:lnTo>
                    <a:pt x="93210" y="1183999"/>
                  </a:lnTo>
                  <a:lnTo>
                    <a:pt x="129222" y="1203245"/>
                  </a:lnTo>
                  <a:lnTo>
                    <a:pt x="168282" y="1215134"/>
                  </a:lnTo>
                  <a:lnTo>
                    <a:pt x="209296" y="1219200"/>
                  </a:lnTo>
                  <a:lnTo>
                    <a:pt x="6685788" y="1219200"/>
                  </a:lnTo>
                  <a:lnTo>
                    <a:pt x="6685788" y="0"/>
                  </a:lnTo>
                  <a:close/>
                </a:path>
              </a:pathLst>
            </a:custGeom>
            <a:solidFill>
              <a:srgbClr val="0D0E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0306" rIns="0" bIns="0" rtlCol="0">
            <a:spAutoFit/>
          </a:bodyPr>
          <a:lstStyle/>
          <a:p>
            <a:pPr marL="1610360">
              <a:lnSpc>
                <a:spcPct val="100000"/>
              </a:lnSpc>
              <a:spcBef>
                <a:spcPts val="105"/>
              </a:spcBef>
            </a:pPr>
            <a:r>
              <a:rPr sz="3450" spc="235" dirty="0"/>
              <a:t>Methodology</a:t>
            </a:r>
            <a:endParaRPr sz="3450"/>
          </a:p>
        </p:txBody>
      </p:sp>
      <p:sp>
        <p:nvSpPr>
          <p:cNvPr id="7" name="object 7"/>
          <p:cNvSpPr txBox="1"/>
          <p:nvPr/>
        </p:nvSpPr>
        <p:spPr>
          <a:xfrm>
            <a:off x="1803907" y="2376042"/>
            <a:ext cx="15644494" cy="6426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7995" indent="-45529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467995" algn="l"/>
              </a:tabLst>
            </a:pPr>
            <a:r>
              <a:rPr sz="2800" dirty="0">
                <a:latin typeface="Times New Roman"/>
                <a:cs typeface="Times New Roman"/>
              </a:rPr>
              <a:t>Input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Layer: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upload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leaf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image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(via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streamlit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interface).</a:t>
            </a:r>
            <a:endParaRPr sz="2800">
              <a:latin typeface="Times New Roman"/>
              <a:cs typeface="Times New Roman"/>
            </a:endParaRPr>
          </a:p>
          <a:p>
            <a:pPr marL="467995" marR="5080" indent="-455295">
              <a:lnSpc>
                <a:spcPts val="6720"/>
              </a:lnSpc>
              <a:spcBef>
                <a:spcPts val="785"/>
              </a:spcBef>
              <a:buFont typeface="Arial MT"/>
              <a:buChar char="•"/>
              <a:tabLst>
                <a:tab pos="546100" algn="l"/>
              </a:tabLst>
            </a:pPr>
            <a:r>
              <a:rPr sz="2800" dirty="0">
                <a:latin typeface="Times New Roman"/>
                <a:cs typeface="Times New Roman"/>
              </a:rPr>
              <a:t>Preprocessing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Layer: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OpenCV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NumPy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resize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normalize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convert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images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into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suitable 	</a:t>
            </a:r>
            <a:r>
              <a:rPr sz="2800" dirty="0">
                <a:latin typeface="Times New Roman"/>
                <a:cs typeface="Times New Roman"/>
              </a:rPr>
              <a:t>format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model.</a:t>
            </a:r>
            <a:endParaRPr sz="2800">
              <a:latin typeface="Times New Roman"/>
              <a:cs typeface="Times New Roman"/>
            </a:endParaRPr>
          </a:p>
          <a:p>
            <a:pPr marL="467995" indent="-455295">
              <a:lnSpc>
                <a:spcPct val="100000"/>
              </a:lnSpc>
              <a:spcBef>
                <a:spcPts val="2575"/>
              </a:spcBef>
              <a:buFont typeface="Arial MT"/>
              <a:buChar char="•"/>
              <a:tabLst>
                <a:tab pos="467995" algn="l"/>
              </a:tabLst>
            </a:pPr>
            <a:r>
              <a:rPr sz="2800" dirty="0">
                <a:latin typeface="Times New Roman"/>
                <a:cs typeface="Times New Roman"/>
              </a:rPr>
              <a:t>Model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Loading: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trained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CNN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model(.h5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keras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file)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loaded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using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tensorflow/keras.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5"/>
              </a:spcBef>
              <a:buFont typeface="Arial MT"/>
              <a:buChar char="•"/>
            </a:pPr>
            <a:endParaRPr sz="2800">
              <a:latin typeface="Times New Roman"/>
              <a:cs typeface="Times New Roman"/>
            </a:endParaRPr>
          </a:p>
          <a:p>
            <a:pPr marL="467995" indent="-455295">
              <a:lnSpc>
                <a:spcPct val="100000"/>
              </a:lnSpc>
              <a:buFont typeface="Arial MT"/>
              <a:buChar char="•"/>
              <a:tabLst>
                <a:tab pos="467995" algn="l"/>
              </a:tabLst>
            </a:pPr>
            <a:r>
              <a:rPr sz="2800" dirty="0">
                <a:latin typeface="Times New Roman"/>
                <a:cs typeface="Times New Roman"/>
              </a:rPr>
              <a:t>Prediction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Layer: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image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passed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through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model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predict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class(healthy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specific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disease).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Arial MT"/>
              <a:buChar char="•"/>
            </a:pPr>
            <a:endParaRPr sz="2800">
              <a:latin typeface="Times New Roman"/>
              <a:cs typeface="Times New Roman"/>
            </a:endParaRPr>
          </a:p>
          <a:p>
            <a:pPr marL="467995" indent="-455295">
              <a:lnSpc>
                <a:spcPct val="100000"/>
              </a:lnSpc>
              <a:buFont typeface="Arial MT"/>
              <a:buChar char="•"/>
              <a:tabLst>
                <a:tab pos="467995" algn="l"/>
              </a:tabLst>
            </a:pPr>
            <a:r>
              <a:rPr sz="2800" dirty="0">
                <a:latin typeface="Times New Roman"/>
                <a:cs typeface="Times New Roman"/>
              </a:rPr>
              <a:t>Result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Display: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predicted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result(disease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name)is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shown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streamlit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wed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application.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Arial MT"/>
              <a:buChar char="•"/>
            </a:pPr>
            <a:endParaRPr sz="2800">
              <a:latin typeface="Times New Roman"/>
              <a:cs typeface="Times New Roman"/>
            </a:endParaRPr>
          </a:p>
          <a:p>
            <a:pPr marL="467995" indent="-455295">
              <a:lnSpc>
                <a:spcPct val="100000"/>
              </a:lnSpc>
              <a:buFont typeface="Arial MT"/>
              <a:buChar char="•"/>
              <a:tabLst>
                <a:tab pos="467995" algn="l"/>
              </a:tabLst>
            </a:pP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Flow: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Calibri"/>
                <a:cs typeface="Calibri"/>
              </a:rPr>
              <a:t>→</a:t>
            </a:r>
            <a:r>
              <a:rPr sz="2800" b="1" spc="40" dirty="0">
                <a:latin typeface="Calibri"/>
                <a:cs typeface="Calibri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streamlit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Calibri"/>
                <a:cs typeface="Calibri"/>
              </a:rPr>
              <a:t>→</a:t>
            </a:r>
            <a:r>
              <a:rPr sz="2800" b="1" spc="40" dirty="0">
                <a:latin typeface="Calibri"/>
                <a:cs typeface="Calibri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preprocessing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Calibri"/>
                <a:cs typeface="Calibri"/>
              </a:rPr>
              <a:t>→</a:t>
            </a:r>
            <a:r>
              <a:rPr sz="2800" b="1" spc="30" dirty="0">
                <a:latin typeface="Calibri"/>
                <a:cs typeface="Calibri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CNN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Model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Calibri"/>
                <a:cs typeface="Calibri"/>
              </a:rPr>
              <a:t>→</a:t>
            </a:r>
            <a:r>
              <a:rPr sz="2800" b="1" spc="35" dirty="0">
                <a:latin typeface="Calibri"/>
                <a:cs typeface="Calibri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Output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Prediction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Calibri"/>
                <a:cs typeface="Calibri"/>
              </a:rPr>
              <a:t>→</a:t>
            </a:r>
            <a:r>
              <a:rPr sz="2800" b="1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display.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Arial MT"/>
              <a:buChar char="•"/>
            </a:pPr>
            <a:endParaRPr sz="2800">
              <a:latin typeface="Times New Roman"/>
              <a:cs typeface="Times New Roman"/>
            </a:endParaRPr>
          </a:p>
          <a:p>
            <a:pPr marL="467995" indent="-45529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7995" algn="l"/>
              </a:tabLst>
            </a:pPr>
            <a:r>
              <a:rPr sz="2800" spc="-20" dirty="0">
                <a:latin typeface="Times New Roman"/>
                <a:cs typeface="Times New Roman"/>
              </a:rPr>
              <a:t>Technology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Stack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Used: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Python,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Tensor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Flow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Keras,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Open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Times New Roman"/>
                <a:cs typeface="Times New Roman"/>
              </a:rPr>
              <a:t>CV,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NumPy,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Streamlit,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Jupyter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Notebook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28700" y="419100"/>
            <a:ext cx="17259300" cy="8839200"/>
            <a:chOff x="1028700" y="419100"/>
            <a:chExt cx="17259300" cy="8839200"/>
          </a:xfrm>
        </p:grpSpPr>
        <p:sp>
          <p:nvSpPr>
            <p:cNvPr id="3" name="object 3"/>
            <p:cNvSpPr/>
            <p:nvPr/>
          </p:nvSpPr>
          <p:spPr>
            <a:xfrm>
              <a:off x="1028700" y="1028700"/>
              <a:ext cx="16230600" cy="8229600"/>
            </a:xfrm>
            <a:custGeom>
              <a:avLst/>
              <a:gdLst/>
              <a:ahLst/>
              <a:cxnLst/>
              <a:rect l="l" t="t" r="r" b="b"/>
              <a:pathLst>
                <a:path w="16230600" h="8229600">
                  <a:moveTo>
                    <a:pt x="16138271" y="0"/>
                  </a:moveTo>
                  <a:lnTo>
                    <a:pt x="92367" y="0"/>
                  </a:lnTo>
                  <a:lnTo>
                    <a:pt x="56412" y="7264"/>
                  </a:lnTo>
                  <a:lnTo>
                    <a:pt x="27052" y="27066"/>
                  </a:lnTo>
                  <a:lnTo>
                    <a:pt x="7258" y="56417"/>
                  </a:lnTo>
                  <a:lnTo>
                    <a:pt x="0" y="92328"/>
                  </a:lnTo>
                  <a:lnTo>
                    <a:pt x="0" y="8137232"/>
                  </a:lnTo>
                  <a:lnTo>
                    <a:pt x="7258" y="8173187"/>
                  </a:lnTo>
                  <a:lnTo>
                    <a:pt x="27052" y="8202547"/>
                  </a:lnTo>
                  <a:lnTo>
                    <a:pt x="56412" y="8222341"/>
                  </a:lnTo>
                  <a:lnTo>
                    <a:pt x="92367" y="8229600"/>
                  </a:lnTo>
                  <a:lnTo>
                    <a:pt x="16138271" y="8229600"/>
                  </a:lnTo>
                  <a:lnTo>
                    <a:pt x="16174182" y="8222341"/>
                  </a:lnTo>
                  <a:lnTo>
                    <a:pt x="16203533" y="8202547"/>
                  </a:lnTo>
                  <a:lnTo>
                    <a:pt x="16223335" y="8173187"/>
                  </a:lnTo>
                  <a:lnTo>
                    <a:pt x="16230600" y="8137232"/>
                  </a:lnTo>
                  <a:lnTo>
                    <a:pt x="16230600" y="92328"/>
                  </a:lnTo>
                  <a:lnTo>
                    <a:pt x="16223335" y="56417"/>
                  </a:lnTo>
                  <a:lnTo>
                    <a:pt x="16203533" y="27066"/>
                  </a:lnTo>
                  <a:lnTo>
                    <a:pt x="16174182" y="7264"/>
                  </a:lnTo>
                  <a:lnTo>
                    <a:pt x="16138271" y="0"/>
                  </a:lnTo>
                  <a:close/>
                </a:path>
              </a:pathLst>
            </a:custGeom>
            <a:solidFill>
              <a:srgbClr val="FAFAFA">
                <a:alpha val="8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602211" y="419100"/>
              <a:ext cx="6685915" cy="1219200"/>
            </a:xfrm>
            <a:custGeom>
              <a:avLst/>
              <a:gdLst/>
              <a:ahLst/>
              <a:cxnLst/>
              <a:rect l="l" t="t" r="r" b="b"/>
              <a:pathLst>
                <a:path w="6685915" h="1219200">
                  <a:moveTo>
                    <a:pt x="6685788" y="0"/>
                  </a:moveTo>
                  <a:lnTo>
                    <a:pt x="209296" y="0"/>
                  </a:lnTo>
                  <a:lnTo>
                    <a:pt x="168282" y="4065"/>
                  </a:lnTo>
                  <a:lnTo>
                    <a:pt x="129222" y="15954"/>
                  </a:lnTo>
                  <a:lnTo>
                    <a:pt x="93210" y="35200"/>
                  </a:lnTo>
                  <a:lnTo>
                    <a:pt x="61341" y="61341"/>
                  </a:lnTo>
                  <a:lnTo>
                    <a:pt x="35200" y="93285"/>
                  </a:lnTo>
                  <a:lnTo>
                    <a:pt x="15954" y="129349"/>
                  </a:lnTo>
                  <a:lnTo>
                    <a:pt x="4065" y="168461"/>
                  </a:lnTo>
                  <a:lnTo>
                    <a:pt x="0" y="209550"/>
                  </a:lnTo>
                  <a:lnTo>
                    <a:pt x="0" y="1009650"/>
                  </a:lnTo>
                  <a:lnTo>
                    <a:pt x="4065" y="1050738"/>
                  </a:lnTo>
                  <a:lnTo>
                    <a:pt x="15954" y="1089850"/>
                  </a:lnTo>
                  <a:lnTo>
                    <a:pt x="35200" y="1125914"/>
                  </a:lnTo>
                  <a:lnTo>
                    <a:pt x="61341" y="1157858"/>
                  </a:lnTo>
                  <a:lnTo>
                    <a:pt x="93210" y="1183999"/>
                  </a:lnTo>
                  <a:lnTo>
                    <a:pt x="129222" y="1203245"/>
                  </a:lnTo>
                  <a:lnTo>
                    <a:pt x="168282" y="1215134"/>
                  </a:lnTo>
                  <a:lnTo>
                    <a:pt x="209296" y="1219200"/>
                  </a:lnTo>
                  <a:lnTo>
                    <a:pt x="6685788" y="1219200"/>
                  </a:lnTo>
                  <a:lnTo>
                    <a:pt x="6685788" y="0"/>
                  </a:lnTo>
                  <a:close/>
                </a:path>
              </a:pathLst>
            </a:custGeom>
            <a:solidFill>
              <a:srgbClr val="0D0E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2013" rIns="0" bIns="0" rtlCol="0">
            <a:spAutoFit/>
          </a:bodyPr>
          <a:lstStyle/>
          <a:p>
            <a:pPr marL="2071370">
              <a:lnSpc>
                <a:spcPct val="100000"/>
              </a:lnSpc>
              <a:spcBef>
                <a:spcPts val="110"/>
              </a:spcBef>
            </a:pPr>
            <a:r>
              <a:rPr sz="3350" spc="225" dirty="0"/>
              <a:t>Modules</a:t>
            </a:r>
            <a:endParaRPr sz="3350"/>
          </a:p>
        </p:txBody>
      </p:sp>
      <p:sp>
        <p:nvSpPr>
          <p:cNvPr id="6" name="object 6"/>
          <p:cNvSpPr txBox="1"/>
          <p:nvPr/>
        </p:nvSpPr>
        <p:spPr>
          <a:xfrm>
            <a:off x="1457705" y="2158135"/>
            <a:ext cx="11316335" cy="5146675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35255" indent="-133350">
              <a:lnSpc>
                <a:spcPct val="100000"/>
              </a:lnSpc>
              <a:spcBef>
                <a:spcPts val="1780"/>
              </a:spcBef>
              <a:buSzPct val="96428"/>
              <a:buFont typeface="Arial MT"/>
              <a:buChar char="•"/>
              <a:tabLst>
                <a:tab pos="135255" algn="l"/>
              </a:tabLst>
            </a:pPr>
            <a:r>
              <a:rPr sz="2800" dirty="0">
                <a:latin typeface="Times New Roman"/>
                <a:cs typeface="Times New Roman"/>
              </a:rPr>
              <a:t>Collected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diverse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tomato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leaf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images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(healthy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&amp;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diseased).</a:t>
            </a:r>
            <a:endParaRPr sz="2800">
              <a:latin typeface="Times New Roman"/>
              <a:cs typeface="Times New Roman"/>
            </a:endParaRPr>
          </a:p>
          <a:p>
            <a:pPr marL="135255" indent="-133350">
              <a:lnSpc>
                <a:spcPct val="100000"/>
              </a:lnSpc>
              <a:spcBef>
                <a:spcPts val="1680"/>
              </a:spcBef>
              <a:buSzPct val="96428"/>
              <a:buFont typeface="Arial MT"/>
              <a:buChar char="•"/>
              <a:tabLst>
                <a:tab pos="135255" algn="l"/>
              </a:tabLst>
            </a:pPr>
            <a:r>
              <a:rPr sz="2800" dirty="0">
                <a:latin typeface="Times New Roman"/>
                <a:cs typeface="Times New Roman"/>
              </a:rPr>
              <a:t>Applied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image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resizing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(256×256),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normalization,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histogram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equalization.</a:t>
            </a:r>
            <a:endParaRPr sz="2800">
              <a:latin typeface="Times New Roman"/>
              <a:cs typeface="Times New Roman"/>
            </a:endParaRPr>
          </a:p>
          <a:p>
            <a:pPr marL="135255" indent="-133350">
              <a:lnSpc>
                <a:spcPct val="100000"/>
              </a:lnSpc>
              <a:spcBef>
                <a:spcPts val="1680"/>
              </a:spcBef>
              <a:buSzPct val="96428"/>
              <a:buFont typeface="Arial MT"/>
              <a:buChar char="•"/>
              <a:tabLst>
                <a:tab pos="135255" algn="l"/>
              </a:tabLst>
            </a:pPr>
            <a:r>
              <a:rPr sz="2800" dirty="0">
                <a:latin typeface="Times New Roman"/>
                <a:cs typeface="Times New Roman"/>
              </a:rPr>
              <a:t>Enhanced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dataset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variety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using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augmentation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(rotation,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flipping,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scaling).</a:t>
            </a:r>
            <a:endParaRPr sz="2800">
              <a:latin typeface="Times New Roman"/>
              <a:cs typeface="Times New Roman"/>
            </a:endParaRPr>
          </a:p>
          <a:p>
            <a:pPr marL="135255" indent="-133350">
              <a:lnSpc>
                <a:spcPct val="100000"/>
              </a:lnSpc>
              <a:spcBef>
                <a:spcPts val="1680"/>
              </a:spcBef>
              <a:buSzPct val="96428"/>
              <a:buFont typeface="Arial MT"/>
              <a:buChar char="•"/>
              <a:tabLst>
                <a:tab pos="135255" algn="l"/>
              </a:tabLst>
            </a:pP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K-</a:t>
            </a:r>
            <a:r>
              <a:rPr sz="2800" dirty="0">
                <a:latin typeface="Times New Roman"/>
                <a:cs typeface="Times New Roman"/>
              </a:rPr>
              <a:t>means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clustering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image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segmentation.</a:t>
            </a:r>
            <a:endParaRPr sz="2800">
              <a:latin typeface="Times New Roman"/>
              <a:cs typeface="Times New Roman"/>
            </a:endParaRPr>
          </a:p>
          <a:p>
            <a:pPr marL="135255" indent="-133350">
              <a:lnSpc>
                <a:spcPct val="100000"/>
              </a:lnSpc>
              <a:spcBef>
                <a:spcPts val="1680"/>
              </a:spcBef>
              <a:buSzPct val="96428"/>
              <a:buFont typeface="Arial MT"/>
              <a:buChar char="•"/>
              <a:tabLst>
                <a:tab pos="135255" algn="l"/>
              </a:tabLst>
            </a:pPr>
            <a:r>
              <a:rPr sz="2800" dirty="0">
                <a:latin typeface="Times New Roman"/>
                <a:cs typeface="Times New Roman"/>
              </a:rPr>
              <a:t>CNN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achieved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highest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accuracy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(96%)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strong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generalization.</a:t>
            </a:r>
            <a:endParaRPr sz="2800">
              <a:latin typeface="Times New Roman"/>
              <a:cs typeface="Times New Roman"/>
            </a:endParaRPr>
          </a:p>
          <a:p>
            <a:pPr marL="135255" indent="-133350">
              <a:lnSpc>
                <a:spcPct val="100000"/>
              </a:lnSpc>
              <a:spcBef>
                <a:spcPts val="1680"/>
              </a:spcBef>
              <a:buSzPct val="96428"/>
              <a:buFont typeface="Arial MT"/>
              <a:buChar char="•"/>
              <a:tabLst>
                <a:tab pos="135255" algn="l"/>
              </a:tabLst>
            </a:pPr>
            <a:r>
              <a:rPr sz="2800" dirty="0">
                <a:latin typeface="Times New Roman"/>
                <a:cs typeface="Times New Roman"/>
              </a:rPr>
              <a:t>Layers: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Convolution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→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ReLU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→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Pooling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→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Fully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Connected.</a:t>
            </a:r>
            <a:endParaRPr sz="2800">
              <a:latin typeface="Times New Roman"/>
              <a:cs typeface="Times New Roman"/>
            </a:endParaRPr>
          </a:p>
          <a:p>
            <a:pPr marL="135255" indent="-133350">
              <a:lnSpc>
                <a:spcPct val="100000"/>
              </a:lnSpc>
              <a:spcBef>
                <a:spcPts val="1685"/>
              </a:spcBef>
              <a:buSzPct val="96428"/>
              <a:buFont typeface="Arial MT"/>
              <a:buChar char="•"/>
              <a:tabLst>
                <a:tab pos="135255" algn="l"/>
              </a:tabLst>
            </a:pPr>
            <a:r>
              <a:rPr sz="2800" dirty="0">
                <a:latin typeface="Times New Roman"/>
                <a:cs typeface="Times New Roman"/>
              </a:rPr>
              <a:t>Improved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convergence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batch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normalization.</a:t>
            </a:r>
            <a:endParaRPr sz="2800">
              <a:latin typeface="Times New Roman"/>
              <a:cs typeface="Times New Roman"/>
            </a:endParaRPr>
          </a:p>
          <a:p>
            <a:pPr marL="135255" indent="-133350">
              <a:lnSpc>
                <a:spcPct val="100000"/>
              </a:lnSpc>
              <a:spcBef>
                <a:spcPts val="1680"/>
              </a:spcBef>
              <a:buSzPct val="96428"/>
              <a:buFont typeface="Arial MT"/>
              <a:buChar char="•"/>
              <a:tabLst>
                <a:tab pos="135255" algn="l"/>
              </a:tabLst>
            </a:pP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cross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validation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performance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matrix.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4126" rIns="0" bIns="0" rtlCol="0">
            <a:spAutoFit/>
          </a:bodyPr>
          <a:lstStyle/>
          <a:p>
            <a:pPr marL="1620520">
              <a:lnSpc>
                <a:spcPct val="100000"/>
              </a:lnSpc>
              <a:spcBef>
                <a:spcPts val="105"/>
              </a:spcBef>
            </a:pPr>
            <a:r>
              <a:rPr sz="3200" spc="210" dirty="0"/>
              <a:t>Requirements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46023" y="1111656"/>
            <a:ext cx="8314690" cy="848360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200" b="1" dirty="0">
                <a:latin typeface="Times New Roman"/>
                <a:cs typeface="Times New Roman"/>
              </a:rPr>
              <a:t>Software</a:t>
            </a:r>
            <a:r>
              <a:rPr sz="2200" b="1" spc="-11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requirements: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200" b="1" spc="-10" dirty="0">
                <a:latin typeface="Times New Roman"/>
                <a:cs typeface="Times New Roman"/>
              </a:rPr>
              <a:t>Programming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Language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Python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3.11</a:t>
            </a: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265"/>
              </a:spcBef>
            </a:pPr>
            <a:r>
              <a:rPr sz="2200" dirty="0">
                <a:latin typeface="Times New Roman"/>
                <a:cs typeface="Times New Roman"/>
              </a:rPr>
              <a:t>Core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language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preprocessing,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model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training,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deployment.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200" b="1" dirty="0">
                <a:latin typeface="Times New Roman"/>
                <a:cs typeface="Times New Roman"/>
              </a:rPr>
              <a:t>Libraries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&amp;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Frameworks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b="1" spc="-25" dirty="0">
                <a:latin typeface="Times New Roman"/>
                <a:cs typeface="Times New Roman"/>
              </a:rPr>
              <a:t>TensorFlow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/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Keras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Deep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learning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model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building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&amp;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training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b="1" dirty="0">
                <a:latin typeface="Times New Roman"/>
                <a:cs typeface="Times New Roman"/>
              </a:rPr>
              <a:t>NumPy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Numerical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computations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b="1" dirty="0">
                <a:latin typeface="Times New Roman"/>
                <a:cs typeface="Times New Roman"/>
              </a:rPr>
              <a:t>Pandas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handling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analysis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b="1" dirty="0">
                <a:latin typeface="Times New Roman"/>
                <a:cs typeface="Times New Roman"/>
              </a:rPr>
              <a:t>OpenCV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Image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processing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354965" algn="l"/>
                <a:tab pos="1769745" algn="l"/>
              </a:tabLst>
            </a:pPr>
            <a:r>
              <a:rPr sz="2200" b="1" spc="-10" dirty="0">
                <a:latin typeface="Times New Roman"/>
                <a:cs typeface="Times New Roman"/>
              </a:rPr>
              <a:t>Matplotlib</a:t>
            </a:r>
            <a:r>
              <a:rPr sz="2200" b="1" dirty="0">
                <a:latin typeface="Times New Roman"/>
                <a:cs typeface="Times New Roman"/>
              </a:rPr>
              <a:t>	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Visualization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results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metrics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b="1" spc="-10" dirty="0">
                <a:latin typeface="Times New Roman"/>
                <a:cs typeface="Times New Roman"/>
              </a:rPr>
              <a:t>Scikit-</a:t>
            </a:r>
            <a:r>
              <a:rPr sz="2200" b="1" dirty="0">
                <a:latin typeface="Times New Roman"/>
                <a:cs typeface="Times New Roman"/>
              </a:rPr>
              <a:t>learn</a:t>
            </a:r>
            <a:r>
              <a:rPr sz="2200" b="1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Evaluation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metrics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classical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ML</a:t>
            </a:r>
            <a:r>
              <a:rPr sz="2200" spc="-1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models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(SVM)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sz="2200" b="1" dirty="0">
                <a:latin typeface="Times New Roman"/>
                <a:cs typeface="Times New Roman"/>
              </a:rPr>
              <a:t>Development</a:t>
            </a:r>
            <a:r>
              <a:rPr sz="2200" b="1" spc="-135" dirty="0">
                <a:latin typeface="Times New Roman"/>
                <a:cs typeface="Times New Roman"/>
              </a:rPr>
              <a:t> </a:t>
            </a:r>
            <a:r>
              <a:rPr sz="2200" b="1" spc="-20" dirty="0">
                <a:latin typeface="Times New Roman"/>
                <a:cs typeface="Times New Roman"/>
              </a:rPr>
              <a:t>Tools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580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b="1" dirty="0">
                <a:latin typeface="Times New Roman"/>
                <a:cs typeface="Times New Roman"/>
              </a:rPr>
              <a:t>Jupyter</a:t>
            </a:r>
            <a:r>
              <a:rPr sz="2200" b="1" spc="-10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Notebook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Interactive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coding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model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experimentation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590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b="1" spc="-10" dirty="0">
                <a:latin typeface="Times New Roman"/>
                <a:cs typeface="Times New Roman"/>
              </a:rPr>
              <a:t>Visual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Studio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Code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(VS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Code)</a:t>
            </a:r>
            <a:r>
              <a:rPr sz="2200" b="1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Code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editing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debugging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585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b="1" dirty="0">
                <a:latin typeface="Times New Roman"/>
                <a:cs typeface="Times New Roman"/>
              </a:rPr>
              <a:t>IntelliJ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IDEA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-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Alternative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IDE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Python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development</a:t>
            </a:r>
            <a:endParaRPr sz="2200">
              <a:latin typeface="Times New Roman"/>
              <a:cs typeface="Times New Roman"/>
            </a:endParaRPr>
          </a:p>
          <a:p>
            <a:pPr marL="78105">
              <a:lnSpc>
                <a:spcPct val="100000"/>
              </a:lnSpc>
              <a:spcBef>
                <a:spcPts val="1580"/>
              </a:spcBef>
            </a:pPr>
            <a:r>
              <a:rPr sz="2200" b="1" spc="-20" dirty="0">
                <a:latin typeface="Times New Roman"/>
                <a:cs typeface="Times New Roman"/>
              </a:rPr>
              <a:t>Web</a:t>
            </a:r>
            <a:r>
              <a:rPr sz="2200" b="1" spc="-12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Framework</a:t>
            </a:r>
            <a:r>
              <a:rPr sz="2200" b="1" spc="-8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&amp;</a:t>
            </a:r>
            <a:r>
              <a:rPr sz="2200" b="1" spc="-135" dirty="0">
                <a:latin typeface="Times New Roman"/>
                <a:cs typeface="Times New Roman"/>
              </a:rPr>
              <a:t> </a:t>
            </a:r>
            <a:r>
              <a:rPr sz="2200" b="1" spc="-25" dirty="0">
                <a:latin typeface="Times New Roman"/>
                <a:cs typeface="Times New Roman"/>
              </a:rPr>
              <a:t>API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585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b="1" dirty="0">
                <a:latin typeface="Times New Roman"/>
                <a:cs typeface="Times New Roman"/>
              </a:rPr>
              <a:t>FastAPI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serving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trained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model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REST</a:t>
            </a:r>
            <a:r>
              <a:rPr sz="2200" spc="-15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API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585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b="1" dirty="0">
                <a:latin typeface="Times New Roman"/>
                <a:cs typeface="Times New Roman"/>
              </a:rPr>
              <a:t>Streamlit</a:t>
            </a:r>
            <a:r>
              <a:rPr sz="2200" b="1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building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web-</a:t>
            </a:r>
            <a:r>
              <a:rPr sz="2200" dirty="0">
                <a:latin typeface="Times New Roman"/>
                <a:cs typeface="Times New Roman"/>
              </a:rPr>
              <a:t>based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interface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16693" y="2280285"/>
            <a:ext cx="6076315" cy="4159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latin typeface="Times New Roman"/>
                <a:cs typeface="Times New Roman"/>
              </a:rPr>
              <a:t>Hardware</a:t>
            </a:r>
            <a:r>
              <a:rPr sz="2600" b="1" spc="-9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requirements</a:t>
            </a:r>
            <a:r>
              <a:rPr sz="2400" spc="-1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sz="2600">
              <a:latin typeface="Times New Roman"/>
              <a:cs typeface="Times New Roman"/>
            </a:endParaRPr>
          </a:p>
          <a:p>
            <a:pPr marL="338455" indent="-287655">
              <a:lnSpc>
                <a:spcPct val="100000"/>
              </a:lnSpc>
              <a:buFont typeface="Arial MT"/>
              <a:buChar char="•"/>
              <a:tabLst>
                <a:tab pos="338455" algn="l"/>
              </a:tabLst>
            </a:pPr>
            <a:r>
              <a:rPr sz="2400" dirty="0">
                <a:latin typeface="Times New Roman"/>
                <a:cs typeface="Times New Roman"/>
              </a:rPr>
              <a:t>PROCESSOR: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Intel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core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i5(7</a:t>
            </a:r>
            <a:r>
              <a:rPr sz="2400" baseline="24305" dirty="0">
                <a:latin typeface="Times New Roman"/>
                <a:cs typeface="Times New Roman"/>
              </a:rPr>
              <a:t>th</a:t>
            </a:r>
            <a:r>
              <a:rPr sz="2400" spc="217" baseline="243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above).</a:t>
            </a:r>
            <a:endParaRPr sz="2400">
              <a:latin typeface="Times New Roman"/>
              <a:cs typeface="Times New Roman"/>
            </a:endParaRPr>
          </a:p>
          <a:p>
            <a:pPr marL="338455" indent="-287655">
              <a:lnSpc>
                <a:spcPct val="100000"/>
              </a:lnSpc>
              <a:spcBef>
                <a:spcPts val="2020"/>
              </a:spcBef>
              <a:buFont typeface="Arial MT"/>
              <a:buChar char="•"/>
              <a:tabLst>
                <a:tab pos="338455" algn="l"/>
              </a:tabLst>
            </a:pPr>
            <a:r>
              <a:rPr sz="2400" dirty="0">
                <a:latin typeface="Times New Roman"/>
                <a:cs typeface="Times New Roman"/>
              </a:rPr>
              <a:t>RAM: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8GB.</a:t>
            </a:r>
            <a:endParaRPr sz="2400">
              <a:latin typeface="Times New Roman"/>
              <a:cs typeface="Times New Roman"/>
            </a:endParaRPr>
          </a:p>
          <a:p>
            <a:pPr marL="338455" indent="-287655">
              <a:lnSpc>
                <a:spcPct val="100000"/>
              </a:lnSpc>
              <a:spcBef>
                <a:spcPts val="2014"/>
              </a:spcBef>
              <a:buFont typeface="Arial MT"/>
              <a:buChar char="•"/>
              <a:tabLst>
                <a:tab pos="338455" algn="l"/>
              </a:tabLst>
            </a:pPr>
            <a:r>
              <a:rPr sz="2400" dirty="0">
                <a:latin typeface="Times New Roman"/>
                <a:cs typeface="Times New Roman"/>
              </a:rPr>
              <a:t>Storage: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512GB.</a:t>
            </a:r>
            <a:endParaRPr sz="2400">
              <a:latin typeface="Times New Roman"/>
              <a:cs typeface="Times New Roman"/>
            </a:endParaRPr>
          </a:p>
          <a:p>
            <a:pPr marL="338455" indent="-287655">
              <a:lnSpc>
                <a:spcPct val="100000"/>
              </a:lnSpc>
              <a:spcBef>
                <a:spcPts val="2014"/>
              </a:spcBef>
              <a:buFont typeface="Arial MT"/>
              <a:buChar char="•"/>
              <a:tabLst>
                <a:tab pos="338455" algn="l"/>
              </a:tabLst>
            </a:pPr>
            <a:r>
              <a:rPr sz="2400" dirty="0">
                <a:latin typeface="Times New Roman"/>
                <a:cs typeface="Times New Roman"/>
              </a:rPr>
              <a:t>GPU: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Integrated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GPU(for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better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performance)</a:t>
            </a:r>
            <a:endParaRPr sz="2400">
              <a:latin typeface="Times New Roman"/>
              <a:cs typeface="Times New Roman"/>
            </a:endParaRPr>
          </a:p>
          <a:p>
            <a:pPr marL="338455" indent="-287655">
              <a:lnSpc>
                <a:spcPct val="100000"/>
              </a:lnSpc>
              <a:spcBef>
                <a:spcPts val="2020"/>
              </a:spcBef>
              <a:buFont typeface="Arial MT"/>
              <a:buChar char="•"/>
              <a:tabLst>
                <a:tab pos="338455" algn="l"/>
              </a:tabLst>
            </a:pPr>
            <a:r>
              <a:rPr sz="2400" dirty="0">
                <a:latin typeface="Times New Roman"/>
                <a:cs typeface="Times New Roman"/>
              </a:rPr>
              <a:t>Operating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System: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Windows10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85800" y="419100"/>
            <a:ext cx="17602200" cy="9004300"/>
            <a:chOff x="685800" y="419100"/>
            <a:chExt cx="17602200" cy="9004300"/>
          </a:xfrm>
        </p:grpSpPr>
        <p:sp>
          <p:nvSpPr>
            <p:cNvPr id="3" name="object 3"/>
            <p:cNvSpPr/>
            <p:nvPr/>
          </p:nvSpPr>
          <p:spPr>
            <a:xfrm>
              <a:off x="685800" y="1193291"/>
              <a:ext cx="16230600" cy="8229600"/>
            </a:xfrm>
            <a:custGeom>
              <a:avLst/>
              <a:gdLst/>
              <a:ahLst/>
              <a:cxnLst/>
              <a:rect l="l" t="t" r="r" b="b"/>
              <a:pathLst>
                <a:path w="16230600" h="8229600">
                  <a:moveTo>
                    <a:pt x="16138271" y="0"/>
                  </a:moveTo>
                  <a:lnTo>
                    <a:pt x="92367" y="0"/>
                  </a:lnTo>
                  <a:lnTo>
                    <a:pt x="56412" y="7264"/>
                  </a:lnTo>
                  <a:lnTo>
                    <a:pt x="27052" y="27066"/>
                  </a:lnTo>
                  <a:lnTo>
                    <a:pt x="7258" y="56417"/>
                  </a:lnTo>
                  <a:lnTo>
                    <a:pt x="0" y="92328"/>
                  </a:lnTo>
                  <a:lnTo>
                    <a:pt x="0" y="8137232"/>
                  </a:lnTo>
                  <a:lnTo>
                    <a:pt x="7258" y="8173187"/>
                  </a:lnTo>
                  <a:lnTo>
                    <a:pt x="27052" y="8202547"/>
                  </a:lnTo>
                  <a:lnTo>
                    <a:pt x="56412" y="8222341"/>
                  </a:lnTo>
                  <a:lnTo>
                    <a:pt x="92367" y="8229600"/>
                  </a:lnTo>
                  <a:lnTo>
                    <a:pt x="16138271" y="8229600"/>
                  </a:lnTo>
                  <a:lnTo>
                    <a:pt x="16174182" y="8222341"/>
                  </a:lnTo>
                  <a:lnTo>
                    <a:pt x="16203533" y="8202547"/>
                  </a:lnTo>
                  <a:lnTo>
                    <a:pt x="16223335" y="8173187"/>
                  </a:lnTo>
                  <a:lnTo>
                    <a:pt x="16230600" y="8137232"/>
                  </a:lnTo>
                  <a:lnTo>
                    <a:pt x="16230600" y="92328"/>
                  </a:lnTo>
                  <a:lnTo>
                    <a:pt x="16223335" y="56417"/>
                  </a:lnTo>
                  <a:lnTo>
                    <a:pt x="16203533" y="27066"/>
                  </a:lnTo>
                  <a:lnTo>
                    <a:pt x="16174182" y="7264"/>
                  </a:lnTo>
                  <a:lnTo>
                    <a:pt x="16138271" y="0"/>
                  </a:lnTo>
                  <a:close/>
                </a:path>
              </a:pathLst>
            </a:custGeom>
            <a:solidFill>
              <a:srgbClr val="FAFAFA">
                <a:alpha val="8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602211" y="419100"/>
              <a:ext cx="6685915" cy="1219200"/>
            </a:xfrm>
            <a:custGeom>
              <a:avLst/>
              <a:gdLst/>
              <a:ahLst/>
              <a:cxnLst/>
              <a:rect l="l" t="t" r="r" b="b"/>
              <a:pathLst>
                <a:path w="6685915" h="1219200">
                  <a:moveTo>
                    <a:pt x="6685788" y="0"/>
                  </a:moveTo>
                  <a:lnTo>
                    <a:pt x="209296" y="0"/>
                  </a:lnTo>
                  <a:lnTo>
                    <a:pt x="168282" y="4065"/>
                  </a:lnTo>
                  <a:lnTo>
                    <a:pt x="129222" y="15954"/>
                  </a:lnTo>
                  <a:lnTo>
                    <a:pt x="93210" y="35200"/>
                  </a:lnTo>
                  <a:lnTo>
                    <a:pt x="61341" y="61341"/>
                  </a:lnTo>
                  <a:lnTo>
                    <a:pt x="35200" y="93285"/>
                  </a:lnTo>
                  <a:lnTo>
                    <a:pt x="15954" y="129349"/>
                  </a:lnTo>
                  <a:lnTo>
                    <a:pt x="4065" y="168461"/>
                  </a:lnTo>
                  <a:lnTo>
                    <a:pt x="0" y="209550"/>
                  </a:lnTo>
                  <a:lnTo>
                    <a:pt x="0" y="1009650"/>
                  </a:lnTo>
                  <a:lnTo>
                    <a:pt x="4065" y="1050738"/>
                  </a:lnTo>
                  <a:lnTo>
                    <a:pt x="15954" y="1089850"/>
                  </a:lnTo>
                  <a:lnTo>
                    <a:pt x="35200" y="1125914"/>
                  </a:lnTo>
                  <a:lnTo>
                    <a:pt x="61341" y="1157858"/>
                  </a:lnTo>
                  <a:lnTo>
                    <a:pt x="93210" y="1183999"/>
                  </a:lnTo>
                  <a:lnTo>
                    <a:pt x="129222" y="1203245"/>
                  </a:lnTo>
                  <a:lnTo>
                    <a:pt x="168282" y="1215134"/>
                  </a:lnTo>
                  <a:lnTo>
                    <a:pt x="209296" y="1219200"/>
                  </a:lnTo>
                  <a:lnTo>
                    <a:pt x="6685788" y="1219200"/>
                  </a:lnTo>
                  <a:lnTo>
                    <a:pt x="6685788" y="0"/>
                  </a:lnTo>
                  <a:close/>
                </a:path>
              </a:pathLst>
            </a:custGeom>
            <a:solidFill>
              <a:srgbClr val="0D0E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899" rIns="0" bIns="0" rtlCol="0">
            <a:spAutoFit/>
          </a:bodyPr>
          <a:lstStyle/>
          <a:p>
            <a:pPr marL="1630680">
              <a:lnSpc>
                <a:spcPct val="100000"/>
              </a:lnSpc>
              <a:spcBef>
                <a:spcPts val="100"/>
              </a:spcBef>
            </a:pPr>
            <a:r>
              <a:rPr spc="254" dirty="0"/>
              <a:t>Execution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22805" y="3693617"/>
            <a:ext cx="9855200" cy="4719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5455" indent="-45275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465455" algn="l"/>
              </a:tabLst>
            </a:pPr>
            <a:r>
              <a:rPr sz="2800" dirty="0">
                <a:latin typeface="Times New Roman"/>
                <a:cs typeface="Times New Roman"/>
              </a:rPr>
              <a:t>Requires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plant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leaf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images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from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set.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25"/>
              </a:spcBef>
              <a:buFont typeface="Arial MT"/>
              <a:buChar char="•"/>
            </a:pPr>
            <a:endParaRPr sz="2800">
              <a:latin typeface="Times New Roman"/>
              <a:cs typeface="Times New Roman"/>
            </a:endParaRPr>
          </a:p>
          <a:p>
            <a:pPr marL="465455" indent="-452755">
              <a:lnSpc>
                <a:spcPct val="100000"/>
              </a:lnSpc>
              <a:buFont typeface="Arial MT"/>
              <a:buChar char="•"/>
              <a:tabLst>
                <a:tab pos="465455" algn="l"/>
              </a:tabLst>
            </a:pPr>
            <a:r>
              <a:rPr sz="2800" dirty="0">
                <a:latin typeface="Times New Roman"/>
                <a:cs typeface="Times New Roman"/>
              </a:rPr>
              <a:t>Labelled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into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Categories: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Healthy,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Early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Bright,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Late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Bright.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20"/>
              </a:spcBef>
              <a:buFont typeface="Arial MT"/>
              <a:buChar char="•"/>
            </a:pPr>
            <a:endParaRPr sz="2800">
              <a:latin typeface="Times New Roman"/>
              <a:cs typeface="Times New Roman"/>
            </a:endParaRPr>
          </a:p>
          <a:p>
            <a:pPr marL="465455" indent="-452755">
              <a:lnSpc>
                <a:spcPct val="100000"/>
              </a:lnSpc>
              <a:buFont typeface="Arial MT"/>
              <a:buChar char="•"/>
              <a:tabLst>
                <a:tab pos="465455" algn="l"/>
              </a:tabLst>
            </a:pPr>
            <a:r>
              <a:rPr sz="2800" dirty="0">
                <a:latin typeface="Times New Roman"/>
                <a:cs typeface="Times New Roman"/>
              </a:rPr>
              <a:t>Applied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techniques: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Dropout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layer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Batch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Normalization.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20"/>
              </a:spcBef>
              <a:buFont typeface="Arial MT"/>
              <a:buChar char="•"/>
            </a:pPr>
            <a:endParaRPr sz="2800">
              <a:latin typeface="Times New Roman"/>
              <a:cs typeface="Times New Roman"/>
            </a:endParaRPr>
          </a:p>
          <a:p>
            <a:pPr marL="465455" indent="-45275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5455" algn="l"/>
              </a:tabLst>
            </a:pPr>
            <a:r>
              <a:rPr sz="2800" dirty="0">
                <a:latin typeface="Times New Roman"/>
                <a:cs typeface="Times New Roman"/>
              </a:rPr>
              <a:t>Evaluation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Metrics: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accuracy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96%.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14"/>
              </a:spcBef>
              <a:buFont typeface="Arial MT"/>
              <a:buChar char="•"/>
            </a:pPr>
            <a:endParaRPr sz="2800">
              <a:latin typeface="Times New Roman"/>
              <a:cs typeface="Times New Roman"/>
            </a:endParaRPr>
          </a:p>
          <a:p>
            <a:pPr marL="465455" indent="-45275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5455" algn="l"/>
              </a:tabLst>
            </a:pPr>
            <a:r>
              <a:rPr sz="2800" dirty="0">
                <a:latin typeface="Times New Roman"/>
                <a:cs typeface="Times New Roman"/>
              </a:rPr>
              <a:t>Deployment: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Frontend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18125" y="7949768"/>
            <a:ext cx="182879" cy="5154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28700" y="419100"/>
            <a:ext cx="17259300" cy="8839200"/>
            <a:chOff x="1028700" y="419100"/>
            <a:chExt cx="17259300" cy="8839200"/>
          </a:xfrm>
        </p:grpSpPr>
        <p:sp>
          <p:nvSpPr>
            <p:cNvPr id="3" name="object 3"/>
            <p:cNvSpPr/>
            <p:nvPr/>
          </p:nvSpPr>
          <p:spPr>
            <a:xfrm>
              <a:off x="1028700" y="1028700"/>
              <a:ext cx="16230600" cy="8229600"/>
            </a:xfrm>
            <a:custGeom>
              <a:avLst/>
              <a:gdLst/>
              <a:ahLst/>
              <a:cxnLst/>
              <a:rect l="l" t="t" r="r" b="b"/>
              <a:pathLst>
                <a:path w="16230600" h="8229600">
                  <a:moveTo>
                    <a:pt x="16138271" y="0"/>
                  </a:moveTo>
                  <a:lnTo>
                    <a:pt x="92367" y="0"/>
                  </a:lnTo>
                  <a:lnTo>
                    <a:pt x="56412" y="7264"/>
                  </a:lnTo>
                  <a:lnTo>
                    <a:pt x="27052" y="27066"/>
                  </a:lnTo>
                  <a:lnTo>
                    <a:pt x="7258" y="56417"/>
                  </a:lnTo>
                  <a:lnTo>
                    <a:pt x="0" y="92328"/>
                  </a:lnTo>
                  <a:lnTo>
                    <a:pt x="0" y="8137232"/>
                  </a:lnTo>
                  <a:lnTo>
                    <a:pt x="7258" y="8173187"/>
                  </a:lnTo>
                  <a:lnTo>
                    <a:pt x="27052" y="8202547"/>
                  </a:lnTo>
                  <a:lnTo>
                    <a:pt x="56412" y="8222341"/>
                  </a:lnTo>
                  <a:lnTo>
                    <a:pt x="92367" y="8229600"/>
                  </a:lnTo>
                  <a:lnTo>
                    <a:pt x="16138271" y="8229600"/>
                  </a:lnTo>
                  <a:lnTo>
                    <a:pt x="16174182" y="8222341"/>
                  </a:lnTo>
                  <a:lnTo>
                    <a:pt x="16203533" y="8202547"/>
                  </a:lnTo>
                  <a:lnTo>
                    <a:pt x="16223335" y="8173187"/>
                  </a:lnTo>
                  <a:lnTo>
                    <a:pt x="16230600" y="8137232"/>
                  </a:lnTo>
                  <a:lnTo>
                    <a:pt x="16230600" y="92328"/>
                  </a:lnTo>
                  <a:lnTo>
                    <a:pt x="16223335" y="56417"/>
                  </a:lnTo>
                  <a:lnTo>
                    <a:pt x="16203533" y="27066"/>
                  </a:lnTo>
                  <a:lnTo>
                    <a:pt x="16174182" y="7264"/>
                  </a:lnTo>
                  <a:lnTo>
                    <a:pt x="16138271" y="0"/>
                  </a:lnTo>
                  <a:close/>
                </a:path>
              </a:pathLst>
            </a:custGeom>
            <a:solidFill>
              <a:srgbClr val="FAFAFA">
                <a:alpha val="8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602211" y="419100"/>
              <a:ext cx="6685915" cy="1219200"/>
            </a:xfrm>
            <a:custGeom>
              <a:avLst/>
              <a:gdLst/>
              <a:ahLst/>
              <a:cxnLst/>
              <a:rect l="l" t="t" r="r" b="b"/>
              <a:pathLst>
                <a:path w="6685915" h="1219200">
                  <a:moveTo>
                    <a:pt x="6685788" y="0"/>
                  </a:moveTo>
                  <a:lnTo>
                    <a:pt x="209296" y="0"/>
                  </a:lnTo>
                  <a:lnTo>
                    <a:pt x="168282" y="4065"/>
                  </a:lnTo>
                  <a:lnTo>
                    <a:pt x="129222" y="15954"/>
                  </a:lnTo>
                  <a:lnTo>
                    <a:pt x="93210" y="35200"/>
                  </a:lnTo>
                  <a:lnTo>
                    <a:pt x="61341" y="61341"/>
                  </a:lnTo>
                  <a:lnTo>
                    <a:pt x="35200" y="93285"/>
                  </a:lnTo>
                  <a:lnTo>
                    <a:pt x="15954" y="129349"/>
                  </a:lnTo>
                  <a:lnTo>
                    <a:pt x="4065" y="168461"/>
                  </a:lnTo>
                  <a:lnTo>
                    <a:pt x="0" y="209550"/>
                  </a:lnTo>
                  <a:lnTo>
                    <a:pt x="0" y="1009650"/>
                  </a:lnTo>
                  <a:lnTo>
                    <a:pt x="4065" y="1050738"/>
                  </a:lnTo>
                  <a:lnTo>
                    <a:pt x="15954" y="1089850"/>
                  </a:lnTo>
                  <a:lnTo>
                    <a:pt x="35200" y="1125914"/>
                  </a:lnTo>
                  <a:lnTo>
                    <a:pt x="61341" y="1157858"/>
                  </a:lnTo>
                  <a:lnTo>
                    <a:pt x="93210" y="1183999"/>
                  </a:lnTo>
                  <a:lnTo>
                    <a:pt x="129222" y="1203245"/>
                  </a:lnTo>
                  <a:lnTo>
                    <a:pt x="168282" y="1215134"/>
                  </a:lnTo>
                  <a:lnTo>
                    <a:pt x="209296" y="1219200"/>
                  </a:lnTo>
                  <a:lnTo>
                    <a:pt x="6685788" y="1219200"/>
                  </a:lnTo>
                  <a:lnTo>
                    <a:pt x="6685788" y="0"/>
                  </a:lnTo>
                  <a:close/>
                </a:path>
              </a:pathLst>
            </a:custGeom>
            <a:solidFill>
              <a:srgbClr val="0D0E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899" rIns="0" bIns="0" rtlCol="0">
            <a:spAutoFit/>
          </a:bodyPr>
          <a:lstStyle/>
          <a:p>
            <a:pPr marL="1460500">
              <a:lnSpc>
                <a:spcPct val="100000"/>
              </a:lnSpc>
              <a:spcBef>
                <a:spcPts val="100"/>
              </a:spcBef>
            </a:pPr>
            <a:r>
              <a:rPr spc="270" dirty="0"/>
              <a:t>Conclusion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16000" y="2733572"/>
            <a:ext cx="15991840" cy="5786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489584" indent="-45720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469900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project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successfully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demonstrates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potential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deep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learning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automating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plant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disease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detection </a:t>
            </a:r>
            <a:r>
              <a:rPr sz="2800" dirty="0">
                <a:latin typeface="Times New Roman"/>
                <a:cs typeface="Times New Roman"/>
              </a:rPr>
              <a:t>using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tomato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leaf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images.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leveraging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Convolutional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Neural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Networks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(CNNs),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achieved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a </a:t>
            </a:r>
            <a:r>
              <a:rPr sz="2800" dirty="0">
                <a:latin typeface="Times New Roman"/>
                <a:cs typeface="Times New Roman"/>
              </a:rPr>
              <a:t>remarkable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accuracy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96%,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outperforming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traditional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machine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learning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models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like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SVM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469900" marR="5080" indent="-457200">
              <a:lnSpc>
                <a:spcPct val="150000"/>
              </a:lnSpc>
              <a:buFont typeface="Arial MT"/>
              <a:buChar char="•"/>
              <a:tabLst>
                <a:tab pos="469900" algn="l"/>
              </a:tabLst>
            </a:pPr>
            <a:r>
              <a:rPr sz="2800" dirty="0">
                <a:latin typeface="Times New Roman"/>
                <a:cs typeface="Times New Roman"/>
              </a:rPr>
              <a:t>Through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effective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preprocessing,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augmentation,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modern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architectures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such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ResNet,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the </a:t>
            </a:r>
            <a:r>
              <a:rPr sz="2800" dirty="0">
                <a:latin typeface="Times New Roman"/>
                <a:cs typeface="Times New Roman"/>
              </a:rPr>
              <a:t>model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was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able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learn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intricate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patterns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classify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diseases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high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precision.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integration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a </a:t>
            </a:r>
            <a:r>
              <a:rPr sz="2800" spc="-10" dirty="0">
                <a:latin typeface="Times New Roman"/>
                <a:cs typeface="Times New Roman"/>
              </a:rPr>
              <a:t>Streamlit-</a:t>
            </a:r>
            <a:r>
              <a:rPr sz="2800" dirty="0">
                <a:latin typeface="Times New Roman"/>
                <a:cs typeface="Times New Roman"/>
              </a:rPr>
              <a:t>based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interface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FastAPI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backend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ensures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both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user-</a:t>
            </a:r>
            <a:r>
              <a:rPr sz="2800" dirty="0">
                <a:latin typeface="Times New Roman"/>
                <a:cs typeface="Times New Roman"/>
              </a:rPr>
              <a:t>friendly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and </a:t>
            </a:r>
            <a:r>
              <a:rPr sz="2800" spc="-10" dirty="0">
                <a:latin typeface="Times New Roman"/>
                <a:cs typeface="Times New Roman"/>
              </a:rPr>
              <a:t>deployment-ready.</a:t>
            </a:r>
            <a:endParaRPr sz="2800">
              <a:latin typeface="Times New Roman"/>
              <a:cs typeface="Times New Roman"/>
            </a:endParaRPr>
          </a:p>
          <a:p>
            <a:pPr marL="469900" marR="65405" indent="-457200">
              <a:lnSpc>
                <a:spcPct val="150000"/>
              </a:lnSpc>
              <a:spcBef>
                <a:spcPts val="5"/>
              </a:spcBef>
              <a:buFont typeface="Arial MT"/>
              <a:buChar char="•"/>
              <a:tabLst>
                <a:tab pos="469900" algn="l"/>
              </a:tabLst>
            </a:pPr>
            <a:r>
              <a:rPr sz="2800" dirty="0">
                <a:latin typeface="Times New Roman"/>
                <a:cs typeface="Times New Roman"/>
              </a:rPr>
              <a:t>This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work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only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empowers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farmers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reliable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tool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real-</a:t>
            </a:r>
            <a:r>
              <a:rPr sz="2800" dirty="0">
                <a:latin typeface="Times New Roman"/>
                <a:cs typeface="Times New Roman"/>
              </a:rPr>
              <a:t>time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disease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detection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but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also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contributes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sustainable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agriculture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reducing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crop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losses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promoting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timely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intervention.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28700" y="419100"/>
            <a:ext cx="17259300" cy="8839200"/>
            <a:chOff x="1028700" y="419100"/>
            <a:chExt cx="17259300" cy="8839200"/>
          </a:xfrm>
        </p:grpSpPr>
        <p:sp>
          <p:nvSpPr>
            <p:cNvPr id="3" name="object 3"/>
            <p:cNvSpPr/>
            <p:nvPr/>
          </p:nvSpPr>
          <p:spPr>
            <a:xfrm>
              <a:off x="1028700" y="1028700"/>
              <a:ext cx="16230600" cy="8229600"/>
            </a:xfrm>
            <a:custGeom>
              <a:avLst/>
              <a:gdLst/>
              <a:ahLst/>
              <a:cxnLst/>
              <a:rect l="l" t="t" r="r" b="b"/>
              <a:pathLst>
                <a:path w="16230600" h="8229600">
                  <a:moveTo>
                    <a:pt x="16138271" y="0"/>
                  </a:moveTo>
                  <a:lnTo>
                    <a:pt x="92367" y="0"/>
                  </a:lnTo>
                  <a:lnTo>
                    <a:pt x="56412" y="7264"/>
                  </a:lnTo>
                  <a:lnTo>
                    <a:pt x="27052" y="27066"/>
                  </a:lnTo>
                  <a:lnTo>
                    <a:pt x="7258" y="56417"/>
                  </a:lnTo>
                  <a:lnTo>
                    <a:pt x="0" y="92328"/>
                  </a:lnTo>
                  <a:lnTo>
                    <a:pt x="0" y="8137232"/>
                  </a:lnTo>
                  <a:lnTo>
                    <a:pt x="7258" y="8173187"/>
                  </a:lnTo>
                  <a:lnTo>
                    <a:pt x="27052" y="8202547"/>
                  </a:lnTo>
                  <a:lnTo>
                    <a:pt x="56412" y="8222341"/>
                  </a:lnTo>
                  <a:lnTo>
                    <a:pt x="92367" y="8229600"/>
                  </a:lnTo>
                  <a:lnTo>
                    <a:pt x="16138271" y="8229600"/>
                  </a:lnTo>
                  <a:lnTo>
                    <a:pt x="16174182" y="8222341"/>
                  </a:lnTo>
                  <a:lnTo>
                    <a:pt x="16203533" y="8202547"/>
                  </a:lnTo>
                  <a:lnTo>
                    <a:pt x="16223335" y="8173187"/>
                  </a:lnTo>
                  <a:lnTo>
                    <a:pt x="16230600" y="8137232"/>
                  </a:lnTo>
                  <a:lnTo>
                    <a:pt x="16230600" y="92328"/>
                  </a:lnTo>
                  <a:lnTo>
                    <a:pt x="16223335" y="56417"/>
                  </a:lnTo>
                  <a:lnTo>
                    <a:pt x="16203533" y="27066"/>
                  </a:lnTo>
                  <a:lnTo>
                    <a:pt x="16174182" y="7264"/>
                  </a:lnTo>
                  <a:lnTo>
                    <a:pt x="16138271" y="0"/>
                  </a:lnTo>
                  <a:close/>
                </a:path>
              </a:pathLst>
            </a:custGeom>
            <a:solidFill>
              <a:srgbClr val="FAFAFA">
                <a:alpha val="8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602211" y="419100"/>
              <a:ext cx="6685915" cy="1219200"/>
            </a:xfrm>
            <a:custGeom>
              <a:avLst/>
              <a:gdLst/>
              <a:ahLst/>
              <a:cxnLst/>
              <a:rect l="l" t="t" r="r" b="b"/>
              <a:pathLst>
                <a:path w="6685915" h="1219200">
                  <a:moveTo>
                    <a:pt x="6685788" y="0"/>
                  </a:moveTo>
                  <a:lnTo>
                    <a:pt x="209296" y="0"/>
                  </a:lnTo>
                  <a:lnTo>
                    <a:pt x="168282" y="4065"/>
                  </a:lnTo>
                  <a:lnTo>
                    <a:pt x="129222" y="15954"/>
                  </a:lnTo>
                  <a:lnTo>
                    <a:pt x="93210" y="35200"/>
                  </a:lnTo>
                  <a:lnTo>
                    <a:pt x="61341" y="61341"/>
                  </a:lnTo>
                  <a:lnTo>
                    <a:pt x="35200" y="93285"/>
                  </a:lnTo>
                  <a:lnTo>
                    <a:pt x="15954" y="129349"/>
                  </a:lnTo>
                  <a:lnTo>
                    <a:pt x="4065" y="168461"/>
                  </a:lnTo>
                  <a:lnTo>
                    <a:pt x="0" y="209550"/>
                  </a:lnTo>
                  <a:lnTo>
                    <a:pt x="0" y="1009650"/>
                  </a:lnTo>
                  <a:lnTo>
                    <a:pt x="4065" y="1050738"/>
                  </a:lnTo>
                  <a:lnTo>
                    <a:pt x="15954" y="1089850"/>
                  </a:lnTo>
                  <a:lnTo>
                    <a:pt x="35200" y="1125914"/>
                  </a:lnTo>
                  <a:lnTo>
                    <a:pt x="61341" y="1157858"/>
                  </a:lnTo>
                  <a:lnTo>
                    <a:pt x="93210" y="1183999"/>
                  </a:lnTo>
                  <a:lnTo>
                    <a:pt x="129222" y="1203245"/>
                  </a:lnTo>
                  <a:lnTo>
                    <a:pt x="168282" y="1215134"/>
                  </a:lnTo>
                  <a:lnTo>
                    <a:pt x="209296" y="1219200"/>
                  </a:lnTo>
                  <a:lnTo>
                    <a:pt x="6685788" y="1219200"/>
                  </a:lnTo>
                  <a:lnTo>
                    <a:pt x="6685788" y="0"/>
                  </a:lnTo>
                  <a:close/>
                </a:path>
              </a:pathLst>
            </a:custGeom>
            <a:solidFill>
              <a:srgbClr val="0D0E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899" rIns="0" bIns="0" rtlCol="0">
            <a:spAutoFit/>
          </a:bodyPr>
          <a:lstStyle/>
          <a:p>
            <a:pPr marL="1167765">
              <a:lnSpc>
                <a:spcPct val="100000"/>
              </a:lnSpc>
              <a:spcBef>
                <a:spcPts val="100"/>
              </a:spcBef>
            </a:pPr>
            <a:r>
              <a:rPr spc="310" dirty="0"/>
              <a:t>Future</a:t>
            </a:r>
            <a:r>
              <a:rPr spc="195" dirty="0"/>
              <a:t> </a:t>
            </a:r>
            <a:r>
              <a:rPr spc="270" dirty="0"/>
              <a:t>Scope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1016000" y="2741193"/>
            <a:ext cx="11553190" cy="479362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540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/>
              <a:t>Expand</a:t>
            </a:r>
            <a:r>
              <a:rPr spc="-2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model</a:t>
            </a:r>
            <a:r>
              <a:rPr spc="-30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include</a:t>
            </a:r>
            <a:r>
              <a:rPr spc="-30" dirty="0"/>
              <a:t> </a:t>
            </a:r>
            <a:r>
              <a:rPr dirty="0"/>
              <a:t>more</a:t>
            </a:r>
            <a:r>
              <a:rPr spc="-25" dirty="0"/>
              <a:t> </a:t>
            </a:r>
            <a:r>
              <a:rPr spc="-10" dirty="0"/>
              <a:t>crops.</a:t>
            </a:r>
          </a:p>
          <a:p>
            <a:pPr marL="469265" indent="-45656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/>
              <a:t>Improve</a:t>
            </a:r>
            <a:r>
              <a:rPr spc="-40" dirty="0"/>
              <a:t> </a:t>
            </a:r>
            <a:r>
              <a:rPr dirty="0"/>
              <a:t>detection</a:t>
            </a:r>
            <a:r>
              <a:rPr spc="-50" dirty="0"/>
              <a:t> </a:t>
            </a:r>
            <a:r>
              <a:rPr dirty="0"/>
              <a:t>at</a:t>
            </a:r>
            <a:r>
              <a:rPr spc="-35" dirty="0"/>
              <a:t> </a:t>
            </a:r>
            <a:r>
              <a:rPr dirty="0"/>
              <a:t>early</a:t>
            </a:r>
            <a:r>
              <a:rPr spc="-20" dirty="0"/>
              <a:t> </a:t>
            </a:r>
            <a:r>
              <a:rPr spc="-10" dirty="0"/>
              <a:t>stage.</a:t>
            </a:r>
          </a:p>
          <a:p>
            <a:pPr marL="469265" indent="-45656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/>
              <a:t>Integrate</a:t>
            </a:r>
            <a:r>
              <a:rPr spc="-65" dirty="0"/>
              <a:t> </a:t>
            </a:r>
            <a:r>
              <a:rPr dirty="0"/>
              <a:t>with</a:t>
            </a:r>
            <a:r>
              <a:rPr spc="-35" dirty="0"/>
              <a:t> </a:t>
            </a:r>
            <a:r>
              <a:rPr dirty="0"/>
              <a:t>sensors</a:t>
            </a:r>
            <a:r>
              <a:rPr spc="-4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drones</a:t>
            </a:r>
            <a:r>
              <a:rPr spc="-50" dirty="0"/>
              <a:t> </a:t>
            </a:r>
            <a:r>
              <a:rPr dirty="0"/>
              <a:t>for</a:t>
            </a:r>
            <a:r>
              <a:rPr spc="-35" dirty="0"/>
              <a:t> </a:t>
            </a:r>
            <a:r>
              <a:rPr dirty="0"/>
              <a:t>automated</a:t>
            </a:r>
            <a:r>
              <a:rPr spc="-30" dirty="0"/>
              <a:t> </a:t>
            </a:r>
            <a:r>
              <a:rPr spc="-10" dirty="0"/>
              <a:t>diseases.</a:t>
            </a:r>
          </a:p>
          <a:p>
            <a:pPr marL="469265" indent="-45656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/>
              <a:t>Deploy</a:t>
            </a:r>
            <a:r>
              <a:rPr spc="-2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model</a:t>
            </a:r>
            <a:r>
              <a:rPr spc="-25" dirty="0"/>
              <a:t> </a:t>
            </a:r>
            <a:r>
              <a:rPr dirty="0"/>
              <a:t>on</a:t>
            </a:r>
            <a:r>
              <a:rPr spc="-15" dirty="0"/>
              <a:t> </a:t>
            </a:r>
            <a:r>
              <a:rPr dirty="0"/>
              <a:t>edge</a:t>
            </a:r>
            <a:r>
              <a:rPr spc="-25" dirty="0"/>
              <a:t> </a:t>
            </a:r>
            <a:r>
              <a:rPr dirty="0"/>
              <a:t>devices</a:t>
            </a:r>
            <a:r>
              <a:rPr spc="-35" dirty="0"/>
              <a:t> </a:t>
            </a:r>
            <a:r>
              <a:rPr dirty="0"/>
              <a:t>for</a:t>
            </a:r>
            <a:r>
              <a:rPr spc="-20" dirty="0"/>
              <a:t> </a:t>
            </a:r>
            <a:r>
              <a:rPr dirty="0"/>
              <a:t>offline</a:t>
            </a:r>
            <a:r>
              <a:rPr spc="-40" dirty="0"/>
              <a:t> </a:t>
            </a:r>
            <a:r>
              <a:rPr dirty="0"/>
              <a:t>use</a:t>
            </a:r>
            <a:r>
              <a:rPr spc="-20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dirty="0"/>
              <a:t>remote</a:t>
            </a:r>
            <a:r>
              <a:rPr spc="-10" dirty="0"/>
              <a:t> </a:t>
            </a:r>
            <a:r>
              <a:rPr dirty="0"/>
              <a:t>agricultural</a:t>
            </a:r>
            <a:r>
              <a:rPr spc="-40" dirty="0"/>
              <a:t> </a:t>
            </a:r>
            <a:r>
              <a:rPr spc="-10" dirty="0"/>
              <a:t>areas.</a:t>
            </a:r>
          </a:p>
          <a:p>
            <a:pPr marL="469265" indent="-45656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/>
              <a:t>Develop</a:t>
            </a:r>
            <a:r>
              <a:rPr spc="-65" dirty="0"/>
              <a:t> </a:t>
            </a:r>
            <a:r>
              <a:rPr dirty="0"/>
              <a:t>an</a:t>
            </a:r>
            <a:r>
              <a:rPr spc="-175" dirty="0"/>
              <a:t> </a:t>
            </a:r>
            <a:r>
              <a:rPr dirty="0"/>
              <a:t>Android/Ios</a:t>
            </a:r>
            <a:r>
              <a:rPr spc="-40" dirty="0"/>
              <a:t> </a:t>
            </a:r>
            <a:r>
              <a:rPr dirty="0"/>
              <a:t>app</a:t>
            </a:r>
            <a:r>
              <a:rPr spc="-5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detect</a:t>
            </a:r>
            <a:r>
              <a:rPr spc="-50" dirty="0"/>
              <a:t> </a:t>
            </a:r>
            <a:r>
              <a:rPr spc="-10" dirty="0"/>
              <a:t>diseases</a:t>
            </a:r>
            <a:r>
              <a:rPr spc="-10" dirty="0" smtClean="0"/>
              <a:t>.</a:t>
            </a:r>
            <a:r>
              <a:rPr lang="en-US" spc="-10" dirty="0" smtClean="0"/>
              <a:t/>
            </a:r>
            <a:br>
              <a:rPr lang="en-US" spc="-10" dirty="0" smtClean="0"/>
            </a:br>
            <a:r>
              <a:rPr lang="en-US" spc="-10" dirty="0" smtClean="0"/>
              <a:t/>
            </a:r>
            <a:br>
              <a:rPr lang="en-US" spc="-10" dirty="0" smtClean="0"/>
            </a:br>
            <a:r>
              <a:rPr lang="en-US" spc="-10" dirty="0" smtClean="0"/>
              <a:t/>
            </a:r>
            <a:br>
              <a:rPr lang="en-US" spc="-10" dirty="0" smtClean="0"/>
            </a:br>
            <a:r>
              <a:rPr lang="en-US" spc="-10" dirty="0" smtClean="0"/>
              <a:t/>
            </a:r>
            <a:br>
              <a:rPr lang="en-US" spc="-10" dirty="0" smtClean="0"/>
            </a:br>
            <a:r>
              <a:rPr lang="en-US" spc="-10" dirty="0" smtClean="0"/>
              <a:t>Note : My GitHub link </a:t>
            </a:r>
            <a:r>
              <a:rPr lang="en-US" spc="-10" dirty="0"/>
              <a:t>is https://github.com/GollaAdiseshu</a:t>
            </a:r>
            <a:endParaRPr spc="-1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46294" y="3603244"/>
            <a:ext cx="7997190" cy="1805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650" spc="790" dirty="0">
                <a:solidFill>
                  <a:srgbClr val="0D0E68"/>
                </a:solidFill>
              </a:rPr>
              <a:t>Thank</a:t>
            </a:r>
            <a:r>
              <a:rPr sz="11650" spc="459" dirty="0">
                <a:solidFill>
                  <a:srgbClr val="0D0E68"/>
                </a:solidFill>
              </a:rPr>
              <a:t> </a:t>
            </a:r>
            <a:r>
              <a:rPr sz="11650" spc="710" dirty="0">
                <a:solidFill>
                  <a:srgbClr val="0D0E68"/>
                </a:solidFill>
              </a:rPr>
              <a:t>You</a:t>
            </a:r>
            <a:endParaRPr sz="116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1284</Words>
  <Application>Microsoft Office PowerPoint</Application>
  <PresentationFormat>Custom</PresentationFormat>
  <Paragraphs>122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Arial Black</vt:lpstr>
      <vt:lpstr>Arial MT</vt:lpstr>
      <vt:lpstr>Calibri</vt:lpstr>
      <vt:lpstr>Georgia</vt:lpstr>
      <vt:lpstr>Lucida Sans Unicode</vt:lpstr>
      <vt:lpstr>Times New Roman</vt:lpstr>
      <vt:lpstr>Office Theme</vt:lpstr>
      <vt:lpstr>CAPSTONE PROJECT</vt:lpstr>
      <vt:lpstr>Index</vt:lpstr>
      <vt:lpstr>ABSTRACT</vt:lpstr>
      <vt:lpstr>Introduction</vt:lpstr>
      <vt:lpstr>Problem Statement</vt:lpstr>
      <vt:lpstr>Existing System</vt:lpstr>
      <vt:lpstr>Proposed System</vt:lpstr>
      <vt:lpstr>Methodology</vt:lpstr>
      <vt:lpstr>Methodology</vt:lpstr>
      <vt:lpstr>Modules</vt:lpstr>
      <vt:lpstr>Requirements</vt:lpstr>
      <vt:lpstr>Execution</vt:lpstr>
      <vt:lpstr>Conclusion</vt:lpstr>
      <vt:lpstr>Future Scope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Thorax AI:Chest X Ray Disease Detection+Medical ChatBot</dc:title>
  <dc:creator>pavan k</dc:creator>
  <cp:lastModifiedBy>G Adiseshu, HCLTECH Supercharged Ambassador</cp:lastModifiedBy>
  <cp:revision>1</cp:revision>
  <dcterms:created xsi:type="dcterms:W3CDTF">2025-05-21T04:54:51Z</dcterms:created>
  <dcterms:modified xsi:type="dcterms:W3CDTF">2025-05-21T04:59:57Z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2025-05-19T00:00:00Z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2025-05-21T00:00:00Z</vt:filetime>
  </property>
  <property fmtid="{D5CDD505-2E9C-101B-9397-08002B2CF9AE}" pid="5" name="Producer">
    <vt:lpwstr>Microsoft® PowerPoint® 2016</vt:lpwstr>
  </property>
  <property fmtid="{D5CDD505-2E9C-101B-9397-08002B2CF9AE}" pid="6" name="TitusGUID">
    <vt:lpwstr>ba9c891f-bf0b-49f3-b934-406912024ce2</vt:lpwstr>
  </property>
  <property fmtid="{D5CDD505-2E9C-101B-9397-08002B2CF9AE}" pid="7" name="HCLClassD6">
    <vt:lpwstr>False</vt:lpwstr>
  </property>
  <property fmtid="{D5CDD505-2E9C-101B-9397-08002B2CF9AE}" pid="8" name="HCLClassification">
    <vt:lpwstr>HCL_Cla5s_Publ1c</vt:lpwstr>
  </property>
</Properties>
</file>